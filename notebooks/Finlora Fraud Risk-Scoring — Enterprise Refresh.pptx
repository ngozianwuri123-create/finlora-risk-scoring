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embeddedFontLst>
    <p:embeddedFont>
      <p:font typeface="Inter" panose="020B0604020202020204" charset="0"/>
      <p:regular r:id="rId26"/>
      <p:bold r:id="rId27"/>
    </p:embeddedFont>
    <p:embeddedFont>
      <p:font typeface="Montserrat" panose="00000500000000000000" pitchFamily="2" charset="0"/>
      <p:regular r:id="rId28"/>
      <p:bold r:id="rId29"/>
      <p:boldItalic r:id="rId30"/>
    </p:embeddedFont>
    <p:embeddedFont>
      <p:font typeface="Open Sans" panose="020F0502020204030204" pitchFamily="34" charset="0"/>
      <p:regular r:id="rId31"/>
      <p:bold r:id="rId32"/>
    </p:embeddedFont>
    <p:embeddedFont>
      <p:font typeface="Roboto" panose="02000000000000000000" pitchFamily="2" charset="0"/>
      <p:regular r:id="rId33"/>
      <p:bold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443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99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99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24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0284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55011"/>
            <a:ext cx="12192000" cy="10284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75" y="3806130"/>
            <a:ext cx="1011882" cy="116532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371600"/>
            <a:ext cx="5364361" cy="4457700"/>
          </a:xfrm>
          <a:prstGeom prst="rect">
            <a:avLst/>
          </a:prstGeom>
        </p:spPr>
      </p:pic>
      <p:sp>
        <p:nvSpPr>
          <p:cNvPr id="7" name="SK-1-text-6"/>
          <p:cNvSpPr/>
          <p:nvPr/>
        </p:nvSpPr>
        <p:spPr>
          <a:xfrm>
            <a:off x="670471" y="2427684"/>
            <a:ext cx="11521529" cy="6445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Finlora Fraud Risk-Scoring</a:t>
            </a:r>
            <a:endParaRPr lang="en-US" sz="4200" dirty="0"/>
          </a:p>
        </p:txBody>
      </p:sp>
      <p:sp>
        <p:nvSpPr>
          <p:cNvPr id="8" name="SK-1-text-7"/>
          <p:cNvSpPr/>
          <p:nvPr/>
        </p:nvSpPr>
        <p:spPr>
          <a:xfrm>
            <a:off x="670471" y="3209479"/>
            <a:ext cx="11521529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transactions to a deployed, explainable fraud model</a:t>
            </a:r>
            <a:endParaRPr lang="en-US" sz="1725" dirty="0"/>
          </a:p>
        </p:txBody>
      </p:sp>
      <p:sp>
        <p:nvSpPr>
          <p:cNvPr id="9" name="SK-1-text-8"/>
          <p:cNvSpPr/>
          <p:nvPr/>
        </p:nvSpPr>
        <p:spPr>
          <a:xfrm>
            <a:off x="670471" y="4155877"/>
            <a:ext cx="6418898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Presentation</a:t>
            </a:r>
            <a:endParaRPr lang="en-US" sz="1725" dirty="0"/>
          </a:p>
        </p:txBody>
      </p:sp>
      <p:sp>
        <p:nvSpPr>
          <p:cNvPr id="10" name="SK-1-text-9"/>
          <p:cNvSpPr/>
          <p:nvPr/>
        </p:nvSpPr>
        <p:spPr>
          <a:xfrm>
            <a:off x="670471" y="6103590"/>
            <a:ext cx="646366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&amp; Risk Engineering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9" y="1102965"/>
            <a:ext cx="889992" cy="5715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69" y="1460004"/>
            <a:ext cx="11289655" cy="899666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969" y="1490216"/>
            <a:ext cx="609600" cy="818852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402" y="1543050"/>
            <a:ext cx="9525" cy="658267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69" y="2522934"/>
            <a:ext cx="11289655" cy="872282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69" y="2592288"/>
            <a:ext cx="609600" cy="733723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9402" y="2530525"/>
            <a:ext cx="9525" cy="658267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969" y="3543449"/>
            <a:ext cx="11289655" cy="929878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969" y="3689598"/>
            <a:ext cx="609600" cy="624036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9402" y="3518148"/>
            <a:ext cx="9525" cy="658267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969" y="4572149"/>
            <a:ext cx="11289655" cy="929878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969" y="4368403"/>
            <a:ext cx="609600" cy="932557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402" y="4505623"/>
            <a:ext cx="9525" cy="658267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969" y="5630317"/>
            <a:ext cx="11289655" cy="658267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969" y="5623471"/>
            <a:ext cx="609600" cy="665113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9402" y="5493246"/>
            <a:ext cx="9525" cy="658267"/>
          </a:xfrm>
          <a:prstGeom prst="rect">
            <a:avLst/>
          </a:prstGeom>
        </p:spPr>
      </p:pic>
      <p:sp>
        <p:nvSpPr>
          <p:cNvPr id="19" name="SK-2-text-18"/>
          <p:cNvSpPr/>
          <p:nvPr/>
        </p:nvSpPr>
        <p:spPr>
          <a:xfrm>
            <a:off x="487561" y="274290"/>
            <a:ext cx="279654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4E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20" name="SK-2-text-19"/>
          <p:cNvSpPr/>
          <p:nvPr/>
        </p:nvSpPr>
        <p:spPr>
          <a:xfrm>
            <a:off x="463153" y="534888"/>
            <a:ext cx="11728847" cy="3839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D293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deployed, explainable model that catches 67% of fraud at 70% precision</a:t>
            </a:r>
            <a:endParaRPr lang="en-US" sz="2250" dirty="0"/>
          </a:p>
        </p:txBody>
      </p:sp>
      <p:sp>
        <p:nvSpPr>
          <p:cNvPr id="21" name="SK-2-text-20"/>
          <p:cNvSpPr/>
          <p:nvPr/>
        </p:nvSpPr>
        <p:spPr>
          <a:xfrm>
            <a:off x="658267" y="1776115"/>
            <a:ext cx="1200150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100" dirty="0"/>
          </a:p>
        </p:txBody>
      </p:sp>
      <p:sp>
        <p:nvSpPr>
          <p:cNvPr id="22" name="SK-2-text-21"/>
          <p:cNvSpPr/>
          <p:nvPr/>
        </p:nvSpPr>
        <p:spPr>
          <a:xfrm>
            <a:off x="1682353" y="1536055"/>
            <a:ext cx="255460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4E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problem.</a:t>
            </a:r>
            <a:endParaRPr lang="en-US" sz="1350" dirty="0"/>
          </a:p>
        </p:txBody>
      </p:sp>
      <p:sp>
        <p:nvSpPr>
          <p:cNvPr id="23" name="SK-2-text-22"/>
          <p:cNvSpPr/>
          <p:nvPr/>
        </p:nvSpPr>
        <p:spPr>
          <a:xfrm>
            <a:off x="1682353" y="1865263"/>
            <a:ext cx="9838879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Finlora needs a fraud probability, not a pass/fail rule, to triage 126,000 transactions a year at a 2.66% fraud rate — too rare for accuracy to</a:t>
            </a:r>
            <a:endParaRPr lang="en-US" sz="120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anything.</a:t>
            </a:r>
            <a:endParaRPr lang="en-US" sz="1200" dirty="0"/>
          </a:p>
        </p:txBody>
      </p:sp>
      <p:sp>
        <p:nvSpPr>
          <p:cNvPr id="24" name="SK-2-text-23"/>
          <p:cNvSpPr/>
          <p:nvPr/>
        </p:nvSpPr>
        <p:spPr>
          <a:xfrm>
            <a:off x="658267" y="2832348"/>
            <a:ext cx="1200150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00" dirty="0"/>
          </a:p>
        </p:txBody>
      </p:sp>
      <p:sp>
        <p:nvSpPr>
          <p:cNvPr id="25" name="SK-2-text-24"/>
          <p:cNvSpPr/>
          <p:nvPr/>
        </p:nvSpPr>
        <p:spPr>
          <a:xfrm>
            <a:off x="1682353" y="2599134"/>
            <a:ext cx="276034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4E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approach.</a:t>
            </a:r>
            <a:endParaRPr lang="en-US" sz="1350" dirty="0"/>
          </a:p>
        </p:txBody>
      </p:sp>
      <p:sp>
        <p:nvSpPr>
          <p:cNvPr id="26" name="SK-2-text-25"/>
          <p:cNvSpPr/>
          <p:nvPr/>
        </p:nvSpPr>
        <p:spPr>
          <a:xfrm>
            <a:off x="1682353" y="2893963"/>
            <a:ext cx="9814471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A 10-notebook pipeline — clean, explore, split, engineer, select, optimize (4 rounds), explain, evaluate — each decision made on validation</a:t>
            </a:r>
            <a:endParaRPr lang="en-US" sz="1200" dirty="0"/>
          </a:p>
        </p:txBody>
      </p:sp>
      <p:sp>
        <p:nvSpPr>
          <p:cNvPr id="27" name="SK-2-text-26"/>
          <p:cNvSpPr/>
          <p:nvPr/>
        </p:nvSpPr>
        <p:spPr>
          <a:xfrm>
            <a:off x="658267" y="3881586"/>
            <a:ext cx="12001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100" dirty="0"/>
          </a:p>
        </p:txBody>
      </p:sp>
      <p:sp>
        <p:nvSpPr>
          <p:cNvPr id="28" name="SK-2-text-27"/>
          <p:cNvSpPr/>
          <p:nvPr/>
        </p:nvSpPr>
        <p:spPr>
          <a:xfrm>
            <a:off x="1682353" y="3655219"/>
            <a:ext cx="2348865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4E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result.</a:t>
            </a:r>
            <a:endParaRPr lang="en-US" sz="1350" dirty="0"/>
          </a:p>
        </p:txBody>
      </p:sp>
      <p:sp>
        <p:nvSpPr>
          <p:cNvPr id="29" name="SK-2-text-28"/>
          <p:cNvSpPr/>
          <p:nvPr/>
        </p:nvSpPr>
        <p:spPr>
          <a:xfrm>
            <a:off x="1682353" y="3943350"/>
            <a:ext cx="9814471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The deployed model catches 67.4% of fraud at 69.75% precision on that untouched test set (PR-AUC 0.725) — a deliberate balance point,</a:t>
            </a:r>
            <a:endParaRPr lang="en-US" sz="120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 default.</a:t>
            </a:r>
            <a:endParaRPr lang="en-US" sz="1200" dirty="0"/>
          </a:p>
        </p:txBody>
      </p:sp>
      <p:sp>
        <p:nvSpPr>
          <p:cNvPr id="30" name="SK-2-text-29"/>
          <p:cNvSpPr/>
          <p:nvPr/>
        </p:nvSpPr>
        <p:spPr>
          <a:xfrm>
            <a:off x="658267" y="4937671"/>
            <a:ext cx="12001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100" dirty="0"/>
          </a:p>
        </p:txBody>
      </p:sp>
      <p:sp>
        <p:nvSpPr>
          <p:cNvPr id="31" name="SK-2-text-30"/>
          <p:cNvSpPr/>
          <p:nvPr/>
        </p:nvSpPr>
        <p:spPr>
          <a:xfrm>
            <a:off x="1682353" y="4683919"/>
            <a:ext cx="3583305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5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honest limit.</a:t>
            </a:r>
            <a:endParaRPr lang="en-US" sz="1350" dirty="0"/>
          </a:p>
        </p:txBody>
      </p:sp>
      <p:sp>
        <p:nvSpPr>
          <p:cNvPr id="32" name="SK-2-text-31"/>
          <p:cNvSpPr/>
          <p:nvPr/>
        </p:nvSpPr>
        <p:spPr>
          <a:xfrm>
            <a:off x="1682353" y="4972050"/>
            <a:ext cx="9814471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70% precision and 70% recall together is not achievable with today's features, checked across 6 models — documented, not hidden, with a</a:t>
            </a:r>
            <a:endParaRPr lang="en-US" sz="1200" dirty="0"/>
          </a:p>
        </p:txBody>
      </p:sp>
      <p:sp>
        <p:nvSpPr>
          <p:cNvPr id="33" name="SK-2-text-32"/>
          <p:cNvSpPr/>
          <p:nvPr/>
        </p:nvSpPr>
        <p:spPr>
          <a:xfrm>
            <a:off x="658267" y="5836146"/>
            <a:ext cx="12001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100" dirty="0"/>
          </a:p>
        </p:txBody>
      </p:sp>
      <p:sp>
        <p:nvSpPr>
          <p:cNvPr id="34" name="SK-2-text-33"/>
          <p:cNvSpPr/>
          <p:nvPr/>
        </p:nvSpPr>
        <p:spPr>
          <a:xfrm>
            <a:off x="1682353" y="5726311"/>
            <a:ext cx="1937385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4E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now.</a:t>
            </a:r>
            <a:endParaRPr lang="en-US" sz="1350" dirty="0"/>
          </a:p>
        </p:txBody>
      </p:sp>
      <p:sp>
        <p:nvSpPr>
          <p:cNvPr id="35" name="SK-2-text-34"/>
          <p:cNvSpPr/>
          <p:nvPr/>
        </p:nvSpPr>
        <p:spPr>
          <a:xfrm>
            <a:off x="1682353" y="6000750"/>
            <a:ext cx="10509647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Scoring, dashboard, and monitoring are running today: https://finlora-risk-scoring-ngozi.streamlit.app/</a:t>
            </a:r>
            <a:endParaRPr lang="en-US" sz="1200" dirty="0"/>
          </a:p>
        </p:txBody>
      </p:sp>
      <p:sp>
        <p:nvSpPr>
          <p:cNvPr id="36" name="SK-2-text-35"/>
          <p:cNvSpPr/>
          <p:nvPr/>
        </p:nvSpPr>
        <p:spPr>
          <a:xfrm>
            <a:off x="414486" y="6467029"/>
            <a:ext cx="393954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8A2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37" name="SK-2-text-36"/>
          <p:cNvSpPr/>
          <p:nvPr/>
        </p:nvSpPr>
        <p:spPr>
          <a:xfrm>
            <a:off x="11618863" y="6480721"/>
            <a:ext cx="323850" cy="1233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8A2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3379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77" y="1892796"/>
            <a:ext cx="365671" cy="41077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6" name="SK-4-text-5"/>
          <p:cNvSpPr/>
          <p:nvPr/>
        </p:nvSpPr>
        <p:spPr>
          <a:xfrm>
            <a:off x="828973" y="1522363"/>
            <a:ext cx="1243013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75" dirty="0"/>
          </a:p>
        </p:txBody>
      </p:sp>
      <p:sp>
        <p:nvSpPr>
          <p:cNvPr id="7" name="SK-4-text-6"/>
          <p:cNvSpPr/>
          <p:nvPr/>
        </p:nvSpPr>
        <p:spPr>
          <a:xfrm>
            <a:off x="828973" y="3003798"/>
            <a:ext cx="11363027" cy="5280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&amp; The Data</a:t>
            </a:r>
            <a:endParaRPr lang="en-US" sz="3825" dirty="0"/>
          </a:p>
        </p:txBody>
      </p:sp>
      <p:sp>
        <p:nvSpPr>
          <p:cNvPr id="8" name="SK-4-text-7"/>
          <p:cNvSpPr/>
          <p:nvPr/>
        </p:nvSpPr>
        <p:spPr>
          <a:xfrm>
            <a:off x="828973" y="3840361"/>
            <a:ext cx="106108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probability score beats a pass/fail rule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052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71" y="1347788"/>
            <a:ext cx="822871" cy="4762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71" y="1743968"/>
            <a:ext cx="6034980" cy="409009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728192"/>
            <a:ext cx="4815780" cy="4262884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1748730"/>
            <a:ext cx="4815780" cy="575965"/>
          </a:xfrm>
          <a:prstGeom prst="rect">
            <a:avLst/>
          </a:prstGeom>
        </p:spPr>
      </p:pic>
      <p:sp>
        <p:nvSpPr>
          <p:cNvPr id="8" name="SK-5-text-7"/>
          <p:cNvSpPr/>
          <p:nvPr/>
        </p:nvSpPr>
        <p:spPr>
          <a:xfrm>
            <a:off x="511969" y="397669"/>
            <a:ext cx="208788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78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SK-5-text-8"/>
          <p:cNvSpPr/>
          <p:nvPr/>
        </p:nvSpPr>
        <p:spPr>
          <a:xfrm>
            <a:off x="511969" y="795486"/>
            <a:ext cx="11680031" cy="3839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 pass/fail rule to a risk score</a:t>
            </a:r>
            <a:endParaRPr lang="en-US" sz="2700" dirty="0"/>
          </a:p>
        </p:txBody>
      </p:sp>
      <p:sp>
        <p:nvSpPr>
          <p:cNvPr id="10" name="SK-5-text-9"/>
          <p:cNvSpPr/>
          <p:nvPr/>
        </p:nvSpPr>
        <p:spPr>
          <a:xfrm>
            <a:off x="731490" y="2029867"/>
            <a:ext cx="5144988" cy="8297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Finlora's transaction-monitoring model needs to assign every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payment a fraud probability — not a binary pass/fail — so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downstream teams can triage by risk.</a:t>
            </a:r>
            <a:endParaRPr lang="en-US" sz="1350" dirty="0"/>
          </a:p>
        </p:txBody>
      </p:sp>
      <p:sp>
        <p:nvSpPr>
          <p:cNvPr id="11" name="SK-5-text-10"/>
          <p:cNvSpPr/>
          <p:nvPr/>
        </p:nvSpPr>
        <p:spPr>
          <a:xfrm>
            <a:off x="731490" y="3223171"/>
            <a:ext cx="5254675" cy="8502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Fraud is rare (2.66% of transactions) and costly to miss, but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flagging too much legitimate activity erodes customer trust and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burns manual-review capacity.</a:t>
            </a:r>
            <a:endParaRPr lang="en-US" sz="1350" dirty="0"/>
          </a:p>
        </p:txBody>
      </p:sp>
      <p:sp>
        <p:nvSpPr>
          <p:cNvPr id="12" name="SK-5-text-11"/>
          <p:cNvSpPr/>
          <p:nvPr/>
        </p:nvSpPr>
        <p:spPr>
          <a:xfrm>
            <a:off x="731490" y="4416475"/>
            <a:ext cx="5193655" cy="11315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Goal: a model that ranks transactions by risk well enough to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a real operating decision — approve, step-up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authentication, or hold for review — and an app that puts that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in front of the people who need it.</a:t>
            </a:r>
            <a:endParaRPr lang="en-US" sz="1350" dirty="0"/>
          </a:p>
        </p:txBody>
      </p:sp>
      <p:sp>
        <p:nvSpPr>
          <p:cNvPr id="13" name="SK-5-text-12"/>
          <p:cNvSpPr/>
          <p:nvPr/>
        </p:nvSpPr>
        <p:spPr>
          <a:xfrm>
            <a:off x="7083475" y="1920180"/>
            <a:ext cx="142398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1725" dirty="0"/>
          </a:p>
        </p:txBody>
      </p:sp>
      <p:sp>
        <p:nvSpPr>
          <p:cNvPr id="14" name="SK-5-text-13"/>
          <p:cNvSpPr/>
          <p:nvPr/>
        </p:nvSpPr>
        <p:spPr>
          <a:xfrm>
            <a:off x="7083475" y="2743200"/>
            <a:ext cx="510852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126,000 transactions, 7,200 accounts</a:t>
            </a:r>
            <a:endParaRPr lang="en-US" sz="1350" dirty="0"/>
          </a:p>
        </p:txBody>
      </p:sp>
      <p:sp>
        <p:nvSpPr>
          <p:cNvPr id="15" name="SK-5-text-14"/>
          <p:cNvSpPr/>
          <p:nvPr/>
        </p:nvSpPr>
        <p:spPr>
          <a:xfrm>
            <a:off x="7083475" y="3223171"/>
            <a:ext cx="510852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5 countries, 15 merchant categories</a:t>
            </a:r>
            <a:endParaRPr lang="en-US" sz="1350" dirty="0"/>
          </a:p>
        </p:txBody>
      </p:sp>
      <p:sp>
        <p:nvSpPr>
          <p:cNvPr id="16" name="SK-5-text-15"/>
          <p:cNvSpPr/>
          <p:nvPr/>
        </p:nvSpPr>
        <p:spPr>
          <a:xfrm>
            <a:off x="7083475" y="3675757"/>
            <a:ext cx="4267200" cy="5280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10 notebooks: clean → explore → split → engineer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select → optimize → explain → evaluate</a:t>
            </a:r>
            <a:endParaRPr lang="en-US" sz="1350" dirty="0"/>
          </a:p>
        </p:txBody>
      </p:sp>
      <p:sp>
        <p:nvSpPr>
          <p:cNvPr id="17" name="SK-5-text-16"/>
          <p:cNvSpPr/>
          <p:nvPr/>
        </p:nvSpPr>
        <p:spPr>
          <a:xfrm>
            <a:off x="7083475" y="4478238"/>
            <a:ext cx="3413671" cy="5280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A live Streamlit app: scoring, dashboard,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18" name="SK-5-text-17"/>
          <p:cNvSpPr/>
          <p:nvPr/>
        </p:nvSpPr>
        <p:spPr>
          <a:xfrm>
            <a:off x="438894" y="6480721"/>
            <a:ext cx="364236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Finlora Fraud Risk-Scoring</a:t>
            </a:r>
            <a:endParaRPr lang="en-US" sz="900" dirty="0"/>
          </a:p>
        </p:txBody>
      </p:sp>
      <p:sp>
        <p:nvSpPr>
          <p:cNvPr id="19" name="SK-5-text-18"/>
          <p:cNvSpPr/>
          <p:nvPr/>
        </p:nvSpPr>
        <p:spPr>
          <a:xfrm>
            <a:off x="11582400" y="6501259"/>
            <a:ext cx="304800" cy="1028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82" y="1181100"/>
            <a:ext cx="938659" cy="381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79" y="1549896"/>
            <a:ext cx="5871121" cy="4702969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596" y="1549896"/>
            <a:ext cx="5432227" cy="4716661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690" y="1814513"/>
            <a:ext cx="5120580" cy="1013520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690" y="2880271"/>
            <a:ext cx="5120580" cy="822871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690" y="4663380"/>
            <a:ext cx="5120580" cy="68580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580" y="2201317"/>
            <a:ext cx="5559475" cy="3867894"/>
          </a:xfrm>
          <a:prstGeom prst="rect">
            <a:avLst/>
          </a:prstGeom>
        </p:spPr>
      </p:pic>
      <p:sp>
        <p:nvSpPr>
          <p:cNvPr id="10" name="SK-6-text-9"/>
          <p:cNvSpPr/>
          <p:nvPr/>
        </p:nvSpPr>
        <p:spPr>
          <a:xfrm>
            <a:off x="390079" y="287982"/>
            <a:ext cx="153924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6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1" name="SK-6-text-10"/>
          <p:cNvSpPr/>
          <p:nvPr/>
        </p:nvSpPr>
        <p:spPr>
          <a:xfrm>
            <a:off x="402282" y="603498"/>
            <a:ext cx="11789718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126,000 transactions, a 2.66% fraud rate</a:t>
            </a:r>
            <a:endParaRPr lang="en-US" sz="3000" dirty="0"/>
          </a:p>
        </p:txBody>
      </p:sp>
      <p:sp>
        <p:nvSpPr>
          <p:cNvPr id="12" name="SK-6-text-11"/>
          <p:cNvSpPr/>
          <p:nvPr/>
        </p:nvSpPr>
        <p:spPr>
          <a:xfrm>
            <a:off x="1414165" y="1714500"/>
            <a:ext cx="1077783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2.66% fraud rate — 126,000 transactions</a:t>
            </a:r>
            <a:endParaRPr lang="en-US" sz="1650" dirty="0"/>
          </a:p>
        </p:txBody>
      </p:sp>
      <p:sp>
        <p:nvSpPr>
          <p:cNvPr id="13" name="SK-6-text-12"/>
          <p:cNvSpPr/>
          <p:nvPr/>
        </p:nvSpPr>
        <p:spPr>
          <a:xfrm>
            <a:off x="6534894" y="1913334"/>
            <a:ext cx="4791373" cy="8160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source tables merged on account_id: transaction-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detail and account-level attributes (KYC tier, account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type, home country).</a:t>
            </a:r>
            <a:endParaRPr lang="en-US" sz="1350" dirty="0"/>
          </a:p>
        </p:txBody>
      </p:sp>
      <p:sp>
        <p:nvSpPr>
          <p:cNvPr id="14" name="SK-6-text-13"/>
          <p:cNvSpPr/>
          <p:nvPr/>
        </p:nvSpPr>
        <p:spPr>
          <a:xfrm>
            <a:off x="6534894" y="3175248"/>
            <a:ext cx="4974282" cy="11108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imbalance is the central fact of the whole project: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 is meaningless here (predicting "not fraud" for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everyone scores ~97.3%), so precision, recall, and F1 on the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 class drive every decision.</a:t>
            </a:r>
            <a:endParaRPr lang="en-US" sz="1350" dirty="0"/>
          </a:p>
        </p:txBody>
      </p:sp>
      <p:sp>
        <p:nvSpPr>
          <p:cNvPr id="15" name="SK-6-text-14"/>
          <p:cNvSpPr/>
          <p:nvPr/>
        </p:nvSpPr>
        <p:spPr>
          <a:xfrm>
            <a:off x="6534894" y="4745682"/>
            <a:ext cx="4706094" cy="5211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model and threshold choice from here on is judged</a:t>
            </a:r>
            <a:endParaRPr lang="en-US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this baseline rate.</a:t>
            </a:r>
            <a:endParaRPr lang="en-US" sz="1350" dirty="0"/>
          </a:p>
        </p:txBody>
      </p:sp>
      <p:sp>
        <p:nvSpPr>
          <p:cNvPr id="16" name="SK-6-text-15"/>
          <p:cNvSpPr/>
          <p:nvPr/>
        </p:nvSpPr>
        <p:spPr>
          <a:xfrm>
            <a:off x="390079" y="6473875"/>
            <a:ext cx="393954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17" name="SK-6-text-16"/>
          <p:cNvSpPr/>
          <p:nvPr/>
        </p:nvSpPr>
        <p:spPr>
          <a:xfrm>
            <a:off x="11667679" y="6487567"/>
            <a:ext cx="323850" cy="1165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K-7-text-2"/>
          <p:cNvSpPr/>
          <p:nvPr/>
        </p:nvSpPr>
        <p:spPr>
          <a:xfrm>
            <a:off x="1097161" y="1385292"/>
            <a:ext cx="1928813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75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375" dirty="0"/>
          </a:p>
        </p:txBody>
      </p:sp>
      <p:sp>
        <p:nvSpPr>
          <p:cNvPr id="4" name="SK-7-text-3"/>
          <p:cNvSpPr/>
          <p:nvPr/>
        </p:nvSpPr>
        <p:spPr>
          <a:xfrm>
            <a:off x="1097161" y="3017490"/>
            <a:ext cx="11094839" cy="6994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Preparing the Data</a:t>
            </a:r>
            <a:endParaRPr lang="en-US" sz="4350" dirty="0"/>
          </a:p>
        </p:txBody>
      </p:sp>
      <p:sp>
        <p:nvSpPr>
          <p:cNvPr id="5" name="SK-7-text-4"/>
          <p:cNvSpPr/>
          <p:nvPr/>
        </p:nvSpPr>
        <p:spPr>
          <a:xfrm>
            <a:off x="1097161" y="4224486"/>
            <a:ext cx="11094839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exploration, and feature engineering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90" y="1234380"/>
            <a:ext cx="975271" cy="41077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53" y="1700659"/>
            <a:ext cx="11265396" cy="1453753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53" y="1750814"/>
            <a:ext cx="48667" cy="1494979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0" y="1975098"/>
            <a:ext cx="950863" cy="946398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336" y="1975098"/>
            <a:ext cx="9525" cy="946398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153" y="3355628"/>
            <a:ext cx="11265396" cy="1182291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53" y="3355628"/>
            <a:ext cx="48667" cy="1494979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490" y="3579763"/>
            <a:ext cx="950863" cy="946398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0336" y="3579763"/>
            <a:ext cx="9525" cy="946398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153" y="4619476"/>
            <a:ext cx="11265396" cy="1457325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53" y="4960293"/>
            <a:ext cx="48667" cy="1494979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490" y="5184577"/>
            <a:ext cx="950863" cy="946398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336" y="5184577"/>
            <a:ext cx="9525" cy="946398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5584" y="5143500"/>
            <a:ext cx="609600" cy="493663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584" y="3703290"/>
            <a:ext cx="609600" cy="493663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584" y="2119015"/>
            <a:ext cx="633859" cy="624036"/>
          </a:xfrm>
          <a:prstGeom prst="rect">
            <a:avLst/>
          </a:prstGeom>
        </p:spPr>
      </p:pic>
      <p:sp>
        <p:nvSpPr>
          <p:cNvPr id="19" name="SK-8-text-18"/>
          <p:cNvSpPr/>
          <p:nvPr/>
        </p:nvSpPr>
        <p:spPr>
          <a:xfrm>
            <a:off x="426690" y="267444"/>
            <a:ext cx="245364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54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0" name="SK-8-text-19"/>
          <p:cNvSpPr/>
          <p:nvPr/>
        </p:nvSpPr>
        <p:spPr>
          <a:xfrm>
            <a:off x="414486" y="603498"/>
            <a:ext cx="11777514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Fixing what's broken, flagging what's ambiguous</a:t>
            </a:r>
            <a:endParaRPr lang="en-US" sz="2550" dirty="0"/>
          </a:p>
        </p:txBody>
      </p:sp>
      <p:sp>
        <p:nvSpPr>
          <p:cNvPr id="21" name="SK-8-text-20"/>
          <p:cNvSpPr/>
          <p:nvPr/>
        </p:nvSpPr>
        <p:spPr>
          <a:xfrm>
            <a:off x="2133600" y="1961257"/>
            <a:ext cx="90106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 — structural, not random</a:t>
            </a:r>
            <a:endParaRPr lang="en-US" sz="1500" dirty="0"/>
          </a:p>
        </p:txBody>
      </p:sp>
      <p:sp>
        <p:nvSpPr>
          <p:cNvPr id="22" name="SK-8-text-21"/>
          <p:cNvSpPr/>
          <p:nvPr/>
        </p:nvSpPr>
        <p:spPr>
          <a:xfrm>
            <a:off x="2340769" y="2365921"/>
            <a:ext cx="9851231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merchant_name missing for 22.7% of rows (no merchant on ATM/transfer transactions) → filled "Unknown"</a:t>
            </a:r>
            <a:endParaRPr lang="en-US" sz="1200" dirty="0"/>
          </a:p>
        </p:txBody>
      </p:sp>
      <p:sp>
        <p:nvSpPr>
          <p:cNvPr id="23" name="SK-8-text-22"/>
          <p:cNvSpPr/>
          <p:nvPr/>
        </p:nvSpPr>
        <p:spPr>
          <a:xfrm>
            <a:off x="2352973" y="2674590"/>
            <a:ext cx="9839027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device_id / is_new_device missing for the exact same 11.4% of rows (channels with no device context) → filled explicitly</a:t>
            </a:r>
            <a:endParaRPr lang="en-US" sz="1200" dirty="0"/>
          </a:p>
        </p:txBody>
      </p:sp>
      <p:sp>
        <p:nvSpPr>
          <p:cNvPr id="24" name="SK-8-text-23"/>
          <p:cNvSpPr/>
          <p:nvPr/>
        </p:nvSpPr>
        <p:spPr>
          <a:xfrm>
            <a:off x="2133600" y="3641527"/>
            <a:ext cx="535305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Duplicates — none found</a:t>
            </a:r>
            <a:endParaRPr lang="en-US" sz="1500" dirty="0"/>
          </a:p>
        </p:txBody>
      </p:sp>
      <p:sp>
        <p:nvSpPr>
          <p:cNvPr id="25" name="SK-8-text-24"/>
          <p:cNvSpPr/>
          <p:nvPr/>
        </p:nvSpPr>
        <p:spPr>
          <a:xfrm>
            <a:off x="2340769" y="4046190"/>
            <a:ext cx="9851231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0 fully duplicated rows, 0 repeated transaction_id across 126,000 rows</a:t>
            </a:r>
            <a:endParaRPr lang="en-US" sz="1200" dirty="0"/>
          </a:p>
        </p:txBody>
      </p:sp>
      <p:sp>
        <p:nvSpPr>
          <p:cNvPr id="26" name="SK-8-text-25"/>
          <p:cNvSpPr/>
          <p:nvPr/>
        </p:nvSpPr>
        <p:spPr>
          <a:xfrm>
            <a:off x="2121396" y="4965055"/>
            <a:ext cx="878205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Invalid amounts — flagged, not dropped</a:t>
            </a:r>
            <a:endParaRPr lang="en-US" sz="1500" dirty="0"/>
          </a:p>
        </p:txBody>
      </p:sp>
      <p:sp>
        <p:nvSpPr>
          <p:cNvPr id="27" name="SK-8-text-26"/>
          <p:cNvSpPr/>
          <p:nvPr/>
        </p:nvSpPr>
        <p:spPr>
          <a:xfrm>
            <a:off x="2352973" y="5383411"/>
            <a:ext cx="9229279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 ~400 rows (0.3%) carry a negative amount or avg_transaction_amount_30d — consistent with refunds, not fraud (their fraud rate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 the baseline) — kept and flagged via has_invalid_amount</a:t>
            </a:r>
            <a:endParaRPr lang="en-US" sz="1200" dirty="0"/>
          </a:p>
        </p:txBody>
      </p:sp>
      <p:sp>
        <p:nvSpPr>
          <p:cNvPr id="28" name="SK-8-text-27"/>
          <p:cNvSpPr/>
          <p:nvPr/>
        </p:nvSpPr>
        <p:spPr>
          <a:xfrm>
            <a:off x="414486" y="6473875"/>
            <a:ext cx="393954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29" name="SK-8-text-28"/>
          <p:cNvSpPr/>
          <p:nvPr/>
        </p:nvSpPr>
        <p:spPr>
          <a:xfrm>
            <a:off x="11655475" y="6494413"/>
            <a:ext cx="323850" cy="1096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8296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90" y="1206401"/>
            <a:ext cx="975271" cy="2857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82" y="1556742"/>
            <a:ext cx="6334423" cy="3969246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7490" y="1645890"/>
            <a:ext cx="4974282" cy="3867894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282" y="5574804"/>
            <a:ext cx="7029450" cy="809030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2436" y="5692080"/>
            <a:ext cx="19050" cy="534888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655" y="5664696"/>
            <a:ext cx="585192" cy="569119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173" y="1968103"/>
            <a:ext cx="6034980" cy="3422005"/>
          </a:xfrm>
          <a:prstGeom prst="rect">
            <a:avLst/>
          </a:prstGeom>
        </p:spPr>
      </p:pic>
      <p:sp>
        <p:nvSpPr>
          <p:cNvPr id="11" name="SK-9-text-10"/>
          <p:cNvSpPr/>
          <p:nvPr/>
        </p:nvSpPr>
        <p:spPr>
          <a:xfrm>
            <a:off x="390079" y="356592"/>
            <a:ext cx="327660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ANALYSIS</a:t>
            </a:r>
            <a:endParaRPr lang="en-US" sz="1050" dirty="0"/>
          </a:p>
        </p:txBody>
      </p:sp>
      <p:sp>
        <p:nvSpPr>
          <p:cNvPr id="12" name="SK-9-text-11"/>
          <p:cNvSpPr/>
          <p:nvPr/>
        </p:nvSpPr>
        <p:spPr>
          <a:xfrm>
            <a:off x="377875" y="637729"/>
            <a:ext cx="11814125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fraud signal actually lives</a:t>
            </a:r>
            <a:endParaRPr lang="en-US" sz="2850" dirty="0"/>
          </a:p>
        </p:txBody>
      </p:sp>
      <p:sp>
        <p:nvSpPr>
          <p:cNvPr id="13" name="SK-9-text-12"/>
          <p:cNvSpPr/>
          <p:nvPr/>
        </p:nvSpPr>
        <p:spPr>
          <a:xfrm>
            <a:off x="572988" y="1673275"/>
            <a:ext cx="9961245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Merchant category: the widest categorical spread</a:t>
            </a:r>
            <a:endParaRPr lang="en-US" sz="1350" dirty="0"/>
          </a:p>
        </p:txBody>
      </p:sp>
      <p:sp>
        <p:nvSpPr>
          <p:cNvPr id="14" name="SK-9-text-13"/>
          <p:cNvSpPr/>
          <p:nvPr/>
        </p:nvSpPr>
        <p:spPr>
          <a:xfrm>
            <a:off x="7083475" y="1899642"/>
            <a:ext cx="4425553" cy="7063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 transaction_velocity_1h is the single strongest signal: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38.2% of fraud has a repeat transaction within the hour vs.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 0.09% of legitimate activity — a &gt;400x gap.</a:t>
            </a:r>
            <a:endParaRPr lang="en-US" sz="1275" dirty="0"/>
          </a:p>
        </p:txBody>
      </p:sp>
      <p:sp>
        <p:nvSpPr>
          <p:cNvPr id="15" name="SK-9-text-14"/>
          <p:cNvSpPr/>
          <p:nvPr/>
        </p:nvSpPr>
        <p:spPr>
          <a:xfrm>
            <a:off x="7095679" y="2969419"/>
            <a:ext cx="4425553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 amount_to_avg_ratio is next: fraud is ~6x an account's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 average transaction size vs. ~1x for legitimate activity.</a:t>
            </a:r>
            <a:endParaRPr lang="en-US" sz="1275" dirty="0"/>
          </a:p>
        </p:txBody>
      </p:sp>
      <p:sp>
        <p:nvSpPr>
          <p:cNvPr id="16" name="SK-9-text-15"/>
          <p:cNvSpPr/>
          <p:nvPr/>
        </p:nvSpPr>
        <p:spPr>
          <a:xfrm>
            <a:off x="7095679" y="3778746"/>
            <a:ext cx="4401294" cy="6582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 Business accounts, low KYC tiers, new devices, and cross-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border transactions all run meaningfully hotter than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baseline.</a:t>
            </a:r>
            <a:endParaRPr lang="en-US" sz="1275" dirty="0"/>
          </a:p>
        </p:txBody>
      </p:sp>
      <p:sp>
        <p:nvSpPr>
          <p:cNvPr id="17" name="SK-9-text-16"/>
          <p:cNvSpPr/>
          <p:nvPr/>
        </p:nvSpPr>
        <p:spPr>
          <a:xfrm>
            <a:off x="7095679" y="4827984"/>
            <a:ext cx="4096494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 day_of_week and geography carry little independent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signal once the above are accounted for.</a:t>
            </a:r>
            <a:endParaRPr lang="en-US" sz="1275" dirty="0"/>
          </a:p>
        </p:txBody>
      </p:sp>
      <p:sp>
        <p:nvSpPr>
          <p:cNvPr id="18" name="SK-9-text-17"/>
          <p:cNvSpPr/>
          <p:nvPr/>
        </p:nvSpPr>
        <p:spPr>
          <a:xfrm>
            <a:off x="1536055" y="5650855"/>
            <a:ext cx="183642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 LINE</a:t>
            </a:r>
            <a:endParaRPr lang="en-US" sz="1050" dirty="0"/>
          </a:p>
        </p:txBody>
      </p:sp>
      <p:sp>
        <p:nvSpPr>
          <p:cNvPr id="19" name="SK-9-text-18"/>
          <p:cNvSpPr/>
          <p:nvPr/>
        </p:nvSpPr>
        <p:spPr>
          <a:xfrm>
            <a:off x="1524000" y="5863530"/>
            <a:ext cx="5596086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concentrates in a few identifiable segments — it isn't spread evenly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the transaction population.</a:t>
            </a:r>
            <a:endParaRPr lang="en-US" sz="1200" dirty="0"/>
          </a:p>
        </p:txBody>
      </p:sp>
      <p:sp>
        <p:nvSpPr>
          <p:cNvPr id="20" name="SK-9-text-19"/>
          <p:cNvSpPr/>
          <p:nvPr/>
        </p:nvSpPr>
        <p:spPr>
          <a:xfrm>
            <a:off x="402282" y="6494413"/>
            <a:ext cx="3939540" cy="1370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21" name="SK-9-text-20"/>
          <p:cNvSpPr/>
          <p:nvPr/>
        </p:nvSpPr>
        <p:spPr>
          <a:xfrm>
            <a:off x="11631067" y="6501259"/>
            <a:ext cx="323850" cy="1165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86" y="1137791"/>
            <a:ext cx="1097161" cy="28575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86" y="1549896"/>
            <a:ext cx="5578525" cy="4555480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86" y="1487388"/>
            <a:ext cx="5559475" cy="645914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3012728"/>
            <a:ext cx="4181773" cy="9525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75" y="3856286"/>
            <a:ext cx="5023098" cy="9525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4816376"/>
            <a:ext cx="4181773" cy="9525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686" y="1549896"/>
            <a:ext cx="5578525" cy="4555480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5686" y="1487388"/>
            <a:ext cx="5559475" cy="645914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875" y="3725912"/>
            <a:ext cx="5023098" cy="9525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875" y="4816376"/>
            <a:ext cx="5023098" cy="9525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1984" y="1563588"/>
            <a:ext cx="487561" cy="493663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063" y="4978896"/>
            <a:ext cx="670471" cy="665113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063" y="4018657"/>
            <a:ext cx="670471" cy="665113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063" y="3106638"/>
            <a:ext cx="670471" cy="665113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063" y="2290465"/>
            <a:ext cx="670471" cy="658267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655" y="1563588"/>
            <a:ext cx="487561" cy="493663"/>
          </a:xfrm>
          <a:prstGeom prst="rect">
            <a:avLst/>
          </a:prstGeom>
        </p:spPr>
      </p:pic>
      <p:sp>
        <p:nvSpPr>
          <p:cNvPr id="19" name="SK-10-text-18"/>
          <p:cNvSpPr/>
          <p:nvPr/>
        </p:nvSpPr>
        <p:spPr>
          <a:xfrm>
            <a:off x="414486" y="246757"/>
            <a:ext cx="355092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57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0" name="SK-10-text-19"/>
          <p:cNvSpPr/>
          <p:nvPr/>
        </p:nvSpPr>
        <p:spPr>
          <a:xfrm>
            <a:off x="402282" y="555427"/>
            <a:ext cx="11789718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new features, one leakage risk removed</a:t>
            </a:r>
            <a:endParaRPr lang="en-US" sz="2400" dirty="0"/>
          </a:p>
        </p:txBody>
      </p:sp>
      <p:sp>
        <p:nvSpPr>
          <p:cNvPr id="21" name="SK-10-text-20"/>
          <p:cNvSpPr/>
          <p:nvPr/>
        </p:nvSpPr>
        <p:spPr>
          <a:xfrm>
            <a:off x="1219200" y="1714500"/>
            <a:ext cx="812292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FEATURES — BUILT FROM TRAINING DATA ONLY</a:t>
            </a:r>
            <a:endParaRPr lang="en-US" sz="1200" dirty="0"/>
          </a:p>
        </p:txBody>
      </p:sp>
      <p:sp>
        <p:nvSpPr>
          <p:cNvPr id="22" name="SK-10-text-21"/>
          <p:cNvSpPr/>
          <p:nvPr/>
        </p:nvSpPr>
        <p:spPr>
          <a:xfrm>
            <a:off x="1499592" y="2516832"/>
            <a:ext cx="922020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hour_bucket: Night / Morning / Afternoon / Evening</a:t>
            </a:r>
            <a:endParaRPr lang="en-US" sz="1200" dirty="0"/>
          </a:p>
        </p:txBody>
      </p:sp>
      <p:sp>
        <p:nvSpPr>
          <p:cNvPr id="23" name="SK-10-text-22"/>
          <p:cNvSpPr/>
          <p:nvPr/>
        </p:nvSpPr>
        <p:spPr>
          <a:xfrm>
            <a:off x="1499592" y="3319165"/>
            <a:ext cx="775716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is_weekend: coarser than day_of_week alone</a:t>
            </a:r>
            <a:endParaRPr lang="en-US" sz="1200" dirty="0"/>
          </a:p>
        </p:txBody>
      </p:sp>
      <p:sp>
        <p:nvSpPr>
          <p:cNvPr id="24" name="SK-10-text-23"/>
          <p:cNvSpPr/>
          <p:nvPr/>
        </p:nvSpPr>
        <p:spPr>
          <a:xfrm>
            <a:off x="1499592" y="4100959"/>
            <a:ext cx="4218384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amount_log: log1p(amount) — compresses the heavy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 skew</a:t>
            </a:r>
            <a:endParaRPr lang="en-US" sz="1350" dirty="0"/>
          </a:p>
        </p:txBody>
      </p:sp>
      <p:sp>
        <p:nvSpPr>
          <p:cNvPr id="25" name="SK-10-text-24"/>
          <p:cNvSpPr/>
          <p:nvPr/>
        </p:nvSpPr>
        <p:spPr>
          <a:xfrm>
            <a:off x="1499592" y="5102275"/>
            <a:ext cx="3377059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velocity_flag: an explicit 0/1 version of the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strongest signal</a:t>
            </a:r>
            <a:endParaRPr lang="en-US" sz="1350" dirty="0"/>
          </a:p>
        </p:txBody>
      </p:sp>
      <p:sp>
        <p:nvSpPr>
          <p:cNvPr id="26" name="SK-10-text-25"/>
          <p:cNvSpPr/>
          <p:nvPr/>
        </p:nvSpPr>
        <p:spPr>
          <a:xfrm>
            <a:off x="6961584" y="1721346"/>
            <a:ext cx="245364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30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LEAKAGE CHECK</a:t>
            </a:r>
            <a:endParaRPr lang="en-US" sz="1200" dirty="0"/>
          </a:p>
        </p:txBody>
      </p:sp>
      <p:sp>
        <p:nvSpPr>
          <p:cNvPr id="27" name="SK-10-text-26"/>
          <p:cNvSpPr/>
          <p:nvPr/>
        </p:nvSpPr>
        <p:spPr>
          <a:xfrm>
            <a:off x="6473875" y="2386459"/>
            <a:ext cx="4718298" cy="10903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status (Completed/Declined/Reversed) looks like an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ordinary field — but "Reversed" is often the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consequence of fraud being confirmed later, not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known at scoring time.</a:t>
            </a:r>
            <a:endParaRPr lang="en-US" sz="1350" dirty="0"/>
          </a:p>
        </p:txBody>
      </p:sp>
      <p:sp>
        <p:nvSpPr>
          <p:cNvPr id="28" name="SK-10-text-27"/>
          <p:cNvSpPr/>
          <p:nvPr/>
        </p:nvSpPr>
        <p:spPr>
          <a:xfrm>
            <a:off x="6473875" y="4039344"/>
            <a:ext cx="4645075" cy="534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Fraud rate: 1.7% for Completed/Declined vs. 33.3%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Reversed — unmistakable leakage.</a:t>
            </a:r>
            <a:endParaRPr lang="en-US" sz="1350" dirty="0"/>
          </a:p>
        </p:txBody>
      </p:sp>
      <p:sp>
        <p:nvSpPr>
          <p:cNvPr id="29" name="SK-10-text-28"/>
          <p:cNvSpPr/>
          <p:nvPr/>
        </p:nvSpPr>
        <p:spPr>
          <a:xfrm>
            <a:off x="6473875" y="5088582"/>
            <a:ext cx="4596259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status and all row identifiers are excluded from the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model's feature set.</a:t>
            </a:r>
            <a:endParaRPr lang="en-US" sz="1350" dirty="0"/>
          </a:p>
        </p:txBody>
      </p:sp>
      <p:sp>
        <p:nvSpPr>
          <p:cNvPr id="30" name="SK-10-text-29"/>
          <p:cNvSpPr/>
          <p:nvPr/>
        </p:nvSpPr>
        <p:spPr>
          <a:xfrm>
            <a:off x="414486" y="6446490"/>
            <a:ext cx="393954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31" name="SK-10-text-30"/>
          <p:cNvSpPr/>
          <p:nvPr/>
        </p:nvSpPr>
        <p:spPr>
          <a:xfrm>
            <a:off x="11557992" y="6460182"/>
            <a:ext cx="323850" cy="1096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3379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1" y="1275457"/>
            <a:ext cx="999679" cy="54769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61" y="5321796"/>
            <a:ext cx="11216580" cy="1069777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61" y="5383411"/>
            <a:ext cx="85279" cy="946398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894" y="1686967"/>
            <a:ext cx="11277600" cy="3408313"/>
          </a:xfrm>
          <a:prstGeom prst="rect">
            <a:avLst/>
          </a:prstGeom>
        </p:spPr>
      </p:pic>
      <p:sp>
        <p:nvSpPr>
          <p:cNvPr id="8" name="SK-11-text-7"/>
          <p:cNvSpPr/>
          <p:nvPr/>
        </p:nvSpPr>
        <p:spPr>
          <a:xfrm>
            <a:off x="463153" y="335905"/>
            <a:ext cx="539115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A4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/ VALIDATION / TEST SPLIT</a:t>
            </a:r>
            <a:endParaRPr lang="en-US" sz="1125" dirty="0"/>
          </a:p>
        </p:txBody>
      </p:sp>
      <p:sp>
        <p:nvSpPr>
          <p:cNvPr id="9" name="SK-11-text-8"/>
          <p:cNvSpPr/>
          <p:nvPr/>
        </p:nvSpPr>
        <p:spPr>
          <a:xfrm>
            <a:off x="451098" y="671959"/>
            <a:ext cx="11740902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split, touched in a strict order</a:t>
            </a:r>
            <a:endParaRPr lang="en-US" sz="2700" dirty="0"/>
          </a:p>
        </p:txBody>
      </p:sp>
      <p:sp>
        <p:nvSpPr>
          <p:cNvPr id="10" name="SK-11-text-9"/>
          <p:cNvSpPr/>
          <p:nvPr/>
        </p:nvSpPr>
        <p:spPr>
          <a:xfrm>
            <a:off x="828973" y="5472559"/>
            <a:ext cx="196215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A4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LINE</a:t>
            </a:r>
            <a:endParaRPr lang="en-US" sz="1125" dirty="0"/>
          </a:p>
        </p:txBody>
      </p:sp>
      <p:sp>
        <p:nvSpPr>
          <p:cNvPr id="11" name="SK-11-text-10"/>
          <p:cNvSpPr/>
          <p:nvPr/>
        </p:nvSpPr>
        <p:spPr>
          <a:xfrm>
            <a:off x="780157" y="5753844"/>
            <a:ext cx="10119271" cy="4868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on is_fraud at every step — all three sets land within a few hundredths of a point of the 2.66% baseline rate, with zero</a:t>
            </a:r>
            <a:endParaRPr lang="en-US" sz="1275" dirty="0"/>
          </a:p>
          <a:p>
            <a:pPr marL="0" indent="0" algn="l">
              <a:lnSpc>
                <a:spcPts val="1721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transaction_id overlap between them.</a:t>
            </a:r>
            <a:endParaRPr lang="en-US" sz="1275" dirty="0"/>
          </a:p>
        </p:txBody>
      </p:sp>
      <p:sp>
        <p:nvSpPr>
          <p:cNvPr id="12" name="SK-11-text-11"/>
          <p:cNvSpPr/>
          <p:nvPr/>
        </p:nvSpPr>
        <p:spPr>
          <a:xfrm>
            <a:off x="426690" y="6480721"/>
            <a:ext cx="393954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13" name="SK-11-text-12"/>
          <p:cNvSpPr/>
          <p:nvPr/>
        </p:nvSpPr>
        <p:spPr>
          <a:xfrm>
            <a:off x="11631067" y="6494413"/>
            <a:ext cx="323850" cy="1096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K-12-text-2"/>
          <p:cNvSpPr/>
          <p:nvPr/>
        </p:nvSpPr>
        <p:spPr>
          <a:xfrm>
            <a:off x="828973" y="1570434"/>
            <a:ext cx="1414463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75" dirty="0">
                <a:solidFill>
                  <a:srgbClr val="E98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75" dirty="0"/>
          </a:p>
        </p:txBody>
      </p:sp>
      <p:sp>
        <p:nvSpPr>
          <p:cNvPr id="4" name="SK-12-text-3"/>
          <p:cNvSpPr/>
          <p:nvPr/>
        </p:nvSpPr>
        <p:spPr>
          <a:xfrm>
            <a:off x="828973" y="2989957"/>
            <a:ext cx="11363027" cy="6308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Model</a:t>
            </a:r>
            <a:endParaRPr lang="en-US" sz="4575" dirty="0"/>
          </a:p>
        </p:txBody>
      </p:sp>
      <p:sp>
        <p:nvSpPr>
          <p:cNvPr id="5" name="SK-12-text-4"/>
          <p:cNvSpPr/>
          <p:nvPr/>
        </p:nvSpPr>
        <p:spPr>
          <a:xfrm>
            <a:off x="816769" y="3895279"/>
            <a:ext cx="11375231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Selection, then four rounds of deliberate optimization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3379"/>
          </a:xfrm>
          <a:prstGeom prst="rect">
            <a:avLst/>
          </a:prstGeom>
        </p:spPr>
      </p:pic>
      <p:pic>
        <p:nvPicPr>
          <p:cNvPr id="4" name="SK-1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73" y="1337221"/>
            <a:ext cx="792361" cy="89148"/>
          </a:xfrm>
          <a:prstGeom prst="rect">
            <a:avLst/>
          </a:prstGeom>
        </p:spPr>
      </p:pic>
      <p:pic>
        <p:nvPicPr>
          <p:cNvPr id="5" name="SK-1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61" y="1851571"/>
            <a:ext cx="10606980" cy="2523679"/>
          </a:xfrm>
          <a:prstGeom prst="rect">
            <a:avLst/>
          </a:prstGeom>
        </p:spPr>
      </p:pic>
      <p:pic>
        <p:nvPicPr>
          <p:cNvPr id="6" name="SK-1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361" y="4731990"/>
            <a:ext cx="10606980" cy="994321"/>
          </a:xfrm>
          <a:prstGeom prst="rect">
            <a:avLst/>
          </a:prstGeom>
        </p:spPr>
      </p:pic>
      <p:pic>
        <p:nvPicPr>
          <p:cNvPr id="7" name="SK-1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361" y="4800600"/>
            <a:ext cx="48667" cy="960090"/>
          </a:xfrm>
          <a:prstGeom prst="rect">
            <a:avLst/>
          </a:prstGeom>
        </p:spPr>
      </p:pic>
      <p:pic>
        <p:nvPicPr>
          <p:cNvPr id="8" name="SK-1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898" y="1878955"/>
            <a:ext cx="10668000" cy="2516886"/>
          </a:xfrm>
          <a:prstGeom prst="rect">
            <a:avLst/>
          </a:prstGeom>
        </p:spPr>
      </p:pic>
      <p:pic>
        <p:nvPicPr>
          <p:cNvPr id="9" name="SK-1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898" y="1878955"/>
            <a:ext cx="10668000" cy="624490"/>
          </a:xfrm>
          <a:prstGeom prst="rect">
            <a:avLst/>
          </a:prstGeom>
        </p:spPr>
      </p:pic>
      <p:pic>
        <p:nvPicPr>
          <p:cNvPr id="10" name="SK-1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898" y="2503445"/>
            <a:ext cx="3733800" cy="629221"/>
          </a:xfrm>
          <a:prstGeom prst="rect">
            <a:avLst/>
          </a:prstGeom>
        </p:spPr>
      </p:pic>
      <p:pic>
        <p:nvPicPr>
          <p:cNvPr id="11" name="SK-1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9698" y="2503445"/>
            <a:ext cx="2346871" cy="629221"/>
          </a:xfrm>
          <a:prstGeom prst="rect">
            <a:avLst/>
          </a:prstGeom>
        </p:spPr>
      </p:pic>
      <p:pic>
        <p:nvPicPr>
          <p:cNvPr id="12" name="SK-13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6569" y="2503445"/>
            <a:ext cx="2346871" cy="629221"/>
          </a:xfrm>
          <a:prstGeom prst="rect">
            <a:avLst/>
          </a:prstGeom>
        </p:spPr>
      </p:pic>
      <p:pic>
        <p:nvPicPr>
          <p:cNvPr id="13" name="SK-13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3439" y="2503445"/>
            <a:ext cx="2240459" cy="629221"/>
          </a:xfrm>
          <a:prstGeom prst="rect">
            <a:avLst/>
          </a:prstGeom>
        </p:spPr>
      </p:pic>
      <p:pic>
        <p:nvPicPr>
          <p:cNvPr id="14" name="SK-13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5898" y="3132667"/>
            <a:ext cx="3733800" cy="633953"/>
          </a:xfrm>
          <a:prstGeom prst="rect">
            <a:avLst/>
          </a:prstGeom>
        </p:spPr>
      </p:pic>
      <p:pic>
        <p:nvPicPr>
          <p:cNvPr id="15" name="SK-13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9698" y="3132667"/>
            <a:ext cx="2346871" cy="633953"/>
          </a:xfrm>
          <a:prstGeom prst="rect">
            <a:avLst/>
          </a:prstGeom>
        </p:spPr>
      </p:pic>
      <p:pic>
        <p:nvPicPr>
          <p:cNvPr id="16" name="SK-13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6569" y="3132667"/>
            <a:ext cx="2346871" cy="633953"/>
          </a:xfrm>
          <a:prstGeom prst="rect">
            <a:avLst/>
          </a:prstGeom>
        </p:spPr>
      </p:pic>
      <p:pic>
        <p:nvPicPr>
          <p:cNvPr id="17" name="SK-13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3439" y="3132667"/>
            <a:ext cx="2240459" cy="633953"/>
          </a:xfrm>
          <a:prstGeom prst="rect">
            <a:avLst/>
          </a:prstGeom>
        </p:spPr>
      </p:pic>
      <p:pic>
        <p:nvPicPr>
          <p:cNvPr id="18" name="SK-13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5898" y="3766620"/>
            <a:ext cx="10668000" cy="629221"/>
          </a:xfrm>
          <a:prstGeom prst="rect">
            <a:avLst/>
          </a:prstGeom>
        </p:spPr>
      </p:pic>
      <p:sp>
        <p:nvSpPr>
          <p:cNvPr id="19" name="SK-13-text-18"/>
          <p:cNvSpPr/>
          <p:nvPr/>
        </p:nvSpPr>
        <p:spPr>
          <a:xfrm>
            <a:off x="984498" y="1878955"/>
            <a:ext cx="3371850" cy="6244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</a:t>
            </a:r>
            <a:endParaRPr lang="en-US" sz="1500" dirty="0"/>
          </a:p>
        </p:txBody>
      </p:sp>
      <p:sp>
        <p:nvSpPr>
          <p:cNvPr id="20" name="SK-13-text-19"/>
          <p:cNvSpPr/>
          <p:nvPr/>
        </p:nvSpPr>
        <p:spPr>
          <a:xfrm>
            <a:off x="4718298" y="1878955"/>
            <a:ext cx="1984921" cy="6244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ROC-AUC</a:t>
            </a:r>
            <a:endParaRPr lang="en-US" sz="1500" dirty="0"/>
          </a:p>
        </p:txBody>
      </p:sp>
      <p:sp>
        <p:nvSpPr>
          <p:cNvPr id="21" name="SK-13-text-20"/>
          <p:cNvSpPr/>
          <p:nvPr/>
        </p:nvSpPr>
        <p:spPr>
          <a:xfrm>
            <a:off x="7065169" y="1878955"/>
            <a:ext cx="1984921" cy="6244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PR-AUC</a:t>
            </a:r>
            <a:endParaRPr lang="en-US" sz="1500" dirty="0"/>
          </a:p>
        </p:txBody>
      </p:sp>
      <p:sp>
        <p:nvSpPr>
          <p:cNvPr id="22" name="SK-13-text-21"/>
          <p:cNvSpPr/>
          <p:nvPr/>
        </p:nvSpPr>
        <p:spPr>
          <a:xfrm>
            <a:off x="984498" y="2503445"/>
            <a:ext cx="3906805" cy="629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23" name="SK-13-text-22"/>
          <p:cNvSpPr/>
          <p:nvPr/>
        </p:nvSpPr>
        <p:spPr>
          <a:xfrm>
            <a:off x="4718298" y="2503445"/>
            <a:ext cx="1984921" cy="629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0.938</a:t>
            </a:r>
            <a:endParaRPr lang="en-US" sz="1500" dirty="0"/>
          </a:p>
        </p:txBody>
      </p:sp>
      <p:sp>
        <p:nvSpPr>
          <p:cNvPr id="24" name="SK-13-text-23"/>
          <p:cNvSpPr/>
          <p:nvPr/>
        </p:nvSpPr>
        <p:spPr>
          <a:xfrm>
            <a:off x="7065169" y="2503445"/>
            <a:ext cx="1984921" cy="629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0.620</a:t>
            </a:r>
            <a:endParaRPr lang="en-US" sz="1500" dirty="0"/>
          </a:p>
        </p:txBody>
      </p:sp>
      <p:sp>
        <p:nvSpPr>
          <p:cNvPr id="25" name="SK-13-text-24"/>
          <p:cNvSpPr/>
          <p:nvPr/>
        </p:nvSpPr>
        <p:spPr>
          <a:xfrm>
            <a:off x="984498" y="3132667"/>
            <a:ext cx="3371850" cy="6339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26" name="SK-13-text-25"/>
          <p:cNvSpPr/>
          <p:nvPr/>
        </p:nvSpPr>
        <p:spPr>
          <a:xfrm>
            <a:off x="4718298" y="3132667"/>
            <a:ext cx="1984921" cy="6339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0.944</a:t>
            </a:r>
            <a:endParaRPr lang="en-US" sz="1500" dirty="0"/>
          </a:p>
        </p:txBody>
      </p:sp>
      <p:sp>
        <p:nvSpPr>
          <p:cNvPr id="27" name="SK-13-text-26"/>
          <p:cNvSpPr/>
          <p:nvPr/>
        </p:nvSpPr>
        <p:spPr>
          <a:xfrm>
            <a:off x="7065169" y="3132667"/>
            <a:ext cx="1984921" cy="6339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0.652</a:t>
            </a:r>
            <a:endParaRPr lang="en-US" sz="1500" dirty="0"/>
          </a:p>
        </p:txBody>
      </p:sp>
      <p:sp>
        <p:nvSpPr>
          <p:cNvPr id="28" name="SK-13-text-27"/>
          <p:cNvSpPr/>
          <p:nvPr/>
        </p:nvSpPr>
        <p:spPr>
          <a:xfrm>
            <a:off x="984498" y="3766620"/>
            <a:ext cx="3505589" cy="629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235"/>
                </a:solidFill>
              </a:rPr>
              <a:t>Gradient Boosting</a:t>
            </a:r>
            <a:endParaRPr lang="en-US" sz="1500" dirty="0"/>
          </a:p>
        </p:txBody>
      </p:sp>
      <p:sp>
        <p:nvSpPr>
          <p:cNvPr id="29" name="SK-13-text-28"/>
          <p:cNvSpPr/>
          <p:nvPr/>
        </p:nvSpPr>
        <p:spPr>
          <a:xfrm>
            <a:off x="4718298" y="3766620"/>
            <a:ext cx="1984921" cy="629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235"/>
                </a:solidFill>
              </a:rPr>
              <a:t>0.945</a:t>
            </a:r>
            <a:endParaRPr lang="en-US" sz="1500" dirty="0"/>
          </a:p>
        </p:txBody>
      </p:sp>
      <p:sp>
        <p:nvSpPr>
          <p:cNvPr id="30" name="SK-13-text-29"/>
          <p:cNvSpPr/>
          <p:nvPr/>
        </p:nvSpPr>
        <p:spPr>
          <a:xfrm>
            <a:off x="7065169" y="3766620"/>
            <a:ext cx="1984921" cy="629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235"/>
                </a:solidFill>
              </a:rPr>
              <a:t>0.689</a:t>
            </a:r>
            <a:endParaRPr lang="en-US" sz="1500" dirty="0"/>
          </a:p>
        </p:txBody>
      </p:sp>
      <p:sp>
        <p:nvSpPr>
          <p:cNvPr id="31" name="SK-13-text-30"/>
          <p:cNvSpPr/>
          <p:nvPr/>
        </p:nvSpPr>
        <p:spPr>
          <a:xfrm>
            <a:off x="10072985" y="4003169"/>
            <a:ext cx="1122313" cy="208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563EB"/>
                </a:solidFill>
              </a:rPr>
              <a:t>★ Selected</a:t>
            </a:r>
            <a:endParaRPr lang="en-US" sz="1500" dirty="0"/>
          </a:p>
        </p:txBody>
      </p:sp>
      <p:sp>
        <p:nvSpPr>
          <p:cNvPr id="32" name="SK-13-text-31"/>
          <p:cNvSpPr/>
          <p:nvPr/>
        </p:nvSpPr>
        <p:spPr>
          <a:xfrm>
            <a:off x="511969" y="452586"/>
            <a:ext cx="28194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6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3" name="SK-13-text-32"/>
          <p:cNvSpPr/>
          <p:nvPr/>
        </p:nvSpPr>
        <p:spPr>
          <a:xfrm>
            <a:off x="511969" y="809179"/>
            <a:ext cx="11680031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candidates, compared on validation</a:t>
            </a:r>
            <a:endParaRPr lang="en-US" sz="2550" dirty="0"/>
          </a:p>
        </p:txBody>
      </p:sp>
      <p:sp>
        <p:nvSpPr>
          <p:cNvPr id="34" name="SK-13-text-33"/>
          <p:cNvSpPr/>
          <p:nvPr/>
        </p:nvSpPr>
        <p:spPr>
          <a:xfrm>
            <a:off x="1024086" y="4841677"/>
            <a:ext cx="183642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6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 LINE</a:t>
            </a:r>
            <a:endParaRPr lang="en-US" sz="1050" dirty="0"/>
          </a:p>
        </p:txBody>
      </p:sp>
      <p:sp>
        <p:nvSpPr>
          <p:cNvPr id="35" name="SK-13-text-34"/>
          <p:cNvSpPr/>
          <p:nvPr/>
        </p:nvSpPr>
        <p:spPr>
          <a:xfrm>
            <a:off x="987475" y="5136505"/>
            <a:ext cx="10033992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PR-AUC — not ROC-AUC — is the deciding metric: at a 2.66% base rate, ROC-AUC is dominated by the huge legitimate class and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barely separates the candidates.</a:t>
            </a:r>
            <a:endParaRPr lang="en-US" sz="1200" dirty="0"/>
          </a:p>
        </p:txBody>
      </p:sp>
      <p:sp>
        <p:nvSpPr>
          <p:cNvPr id="36" name="SK-13-text-35"/>
          <p:cNvSpPr/>
          <p:nvPr/>
        </p:nvSpPr>
        <p:spPr>
          <a:xfrm>
            <a:off x="451098" y="6480721"/>
            <a:ext cx="393954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37" name="SK-13-text-36"/>
          <p:cNvSpPr/>
          <p:nvPr/>
        </p:nvSpPr>
        <p:spPr>
          <a:xfrm>
            <a:off x="11582400" y="6501259"/>
            <a:ext cx="323850" cy="1165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82" y="959495"/>
            <a:ext cx="609600" cy="28575"/>
          </a:xfrm>
          <a:prstGeom prst="rect">
            <a:avLst/>
          </a:prstGeom>
        </p:spPr>
      </p:pic>
      <p:pic>
        <p:nvPicPr>
          <p:cNvPr id="4" name="SK-1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63" y="1248073"/>
            <a:ext cx="7302996" cy="5026819"/>
          </a:xfrm>
          <a:prstGeom prst="rect">
            <a:avLst/>
          </a:prstGeom>
        </p:spPr>
      </p:pic>
      <p:pic>
        <p:nvPicPr>
          <p:cNvPr id="5" name="SK-1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392" y="1227534"/>
            <a:ext cx="3969246" cy="814536"/>
          </a:xfrm>
          <a:prstGeom prst="rect">
            <a:avLst/>
          </a:prstGeom>
        </p:spPr>
      </p:pic>
      <p:pic>
        <p:nvPicPr>
          <p:cNvPr id="6" name="SK-14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392" y="2295971"/>
            <a:ext cx="3969246" cy="810369"/>
          </a:xfrm>
          <a:prstGeom prst="rect">
            <a:avLst/>
          </a:prstGeom>
        </p:spPr>
      </p:pic>
      <p:pic>
        <p:nvPicPr>
          <p:cNvPr id="7" name="SK-14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392" y="3352205"/>
            <a:ext cx="3969246" cy="810369"/>
          </a:xfrm>
          <a:prstGeom prst="rect">
            <a:avLst/>
          </a:prstGeom>
        </p:spPr>
      </p:pic>
      <p:pic>
        <p:nvPicPr>
          <p:cNvPr id="8" name="SK-14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392" y="4341019"/>
            <a:ext cx="3969246" cy="499021"/>
          </a:xfrm>
          <a:prstGeom prst="rect">
            <a:avLst/>
          </a:prstGeom>
        </p:spPr>
      </p:pic>
      <p:pic>
        <p:nvPicPr>
          <p:cNvPr id="9" name="SK-14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392" y="5520630"/>
            <a:ext cx="3969246" cy="533400"/>
          </a:xfrm>
          <a:prstGeom prst="rect">
            <a:avLst/>
          </a:prstGeom>
        </p:spPr>
      </p:pic>
      <p:pic>
        <p:nvPicPr>
          <p:cNvPr id="10" name="SK-14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1516" y="5394384"/>
            <a:ext cx="67352" cy="67352"/>
          </a:xfrm>
          <a:prstGeom prst="rect">
            <a:avLst/>
          </a:prstGeom>
        </p:spPr>
      </p:pic>
      <p:pic>
        <p:nvPicPr>
          <p:cNvPr id="11" name="SK-14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153" y="1412677"/>
            <a:ext cx="243780" cy="137071"/>
          </a:xfrm>
          <a:prstGeom prst="rect">
            <a:avLst/>
          </a:prstGeom>
        </p:spPr>
      </p:pic>
      <p:pic>
        <p:nvPicPr>
          <p:cNvPr id="12" name="SK-1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3153" y="2365921"/>
            <a:ext cx="243780" cy="137071"/>
          </a:xfrm>
          <a:prstGeom prst="rect">
            <a:avLst/>
          </a:prstGeom>
        </p:spPr>
      </p:pic>
      <p:pic>
        <p:nvPicPr>
          <p:cNvPr id="13" name="SK-1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3153" y="3456384"/>
            <a:ext cx="243780" cy="137071"/>
          </a:xfrm>
          <a:prstGeom prst="rect">
            <a:avLst/>
          </a:prstGeom>
        </p:spPr>
      </p:pic>
      <p:pic>
        <p:nvPicPr>
          <p:cNvPr id="14" name="SK-14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3153" y="4478238"/>
            <a:ext cx="243780" cy="137071"/>
          </a:xfrm>
          <a:prstGeom prst="rect">
            <a:avLst/>
          </a:prstGeom>
        </p:spPr>
      </p:pic>
      <p:pic>
        <p:nvPicPr>
          <p:cNvPr id="15" name="SK-14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3153" y="5719465"/>
            <a:ext cx="243780" cy="137071"/>
          </a:xfrm>
          <a:prstGeom prst="rect">
            <a:avLst/>
          </a:prstGeom>
        </p:spPr>
      </p:pic>
      <p:pic>
        <p:nvPicPr>
          <p:cNvPr id="16" name="SK-14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263" y="6386810"/>
            <a:ext cx="11509177" cy="9525"/>
          </a:xfrm>
          <a:prstGeom prst="rect">
            <a:avLst/>
          </a:prstGeom>
        </p:spPr>
      </p:pic>
      <p:pic>
        <p:nvPicPr>
          <p:cNvPr id="17" name="SK-14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153" y="1693813"/>
            <a:ext cx="6888361" cy="3696444"/>
          </a:xfrm>
          <a:prstGeom prst="rect">
            <a:avLst/>
          </a:prstGeom>
        </p:spPr>
      </p:pic>
      <p:sp>
        <p:nvSpPr>
          <p:cNvPr id="18" name="SK-14-text-17"/>
          <p:cNvSpPr/>
          <p:nvPr/>
        </p:nvSpPr>
        <p:spPr>
          <a:xfrm>
            <a:off x="402282" y="164455"/>
            <a:ext cx="446532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6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OPTIMIZATION JOURNEY</a:t>
            </a:r>
            <a:endParaRPr lang="en-US" sz="1200" dirty="0"/>
          </a:p>
        </p:txBody>
      </p:sp>
      <p:sp>
        <p:nvSpPr>
          <p:cNvPr id="19" name="SK-14-text-18"/>
          <p:cNvSpPr/>
          <p:nvPr/>
        </p:nvSpPr>
        <p:spPr>
          <a:xfrm>
            <a:off x="390079" y="452586"/>
            <a:ext cx="11801921" cy="3908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deliberate rounds, one metric each</a:t>
            </a:r>
            <a:endParaRPr lang="en-US" sz="2850" dirty="0"/>
          </a:p>
        </p:txBody>
      </p:sp>
      <p:sp>
        <p:nvSpPr>
          <p:cNvPr id="20" name="SK-14-text-19"/>
          <p:cNvSpPr/>
          <p:nvPr/>
        </p:nvSpPr>
        <p:spPr>
          <a:xfrm>
            <a:off x="2669977" y="1385292"/>
            <a:ext cx="725614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optimization journey</a:t>
            </a:r>
            <a:endParaRPr lang="en-US" sz="1950" dirty="0"/>
          </a:p>
        </p:txBody>
      </p:sp>
      <p:sp>
        <p:nvSpPr>
          <p:cNvPr id="21" name="SK-14-text-20"/>
          <p:cNvSpPr/>
          <p:nvPr/>
        </p:nvSpPr>
        <p:spPr>
          <a:xfrm>
            <a:off x="1694557" y="5506938"/>
            <a:ext cx="2486025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Baseline</a:t>
            </a:r>
            <a:endParaRPr lang="en-US" sz="1350" dirty="0"/>
          </a:p>
        </p:txBody>
      </p:sp>
      <p:sp>
        <p:nvSpPr>
          <p:cNvPr id="22" name="SK-14-text-21"/>
          <p:cNvSpPr/>
          <p:nvPr/>
        </p:nvSpPr>
        <p:spPr>
          <a:xfrm>
            <a:off x="1694557" y="5733157"/>
            <a:ext cx="3446145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F1-optimized</a:t>
            </a:r>
            <a:endParaRPr lang="en-US" sz="1350" dirty="0"/>
          </a:p>
        </p:txBody>
      </p:sp>
      <p:sp>
        <p:nvSpPr>
          <p:cNvPr id="23" name="SK-14-text-22"/>
          <p:cNvSpPr/>
          <p:nvPr/>
        </p:nvSpPr>
        <p:spPr>
          <a:xfrm>
            <a:off x="1694557" y="5952679"/>
            <a:ext cx="4131945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Recall-optimized</a:t>
            </a:r>
            <a:endParaRPr lang="en-US" sz="1350" dirty="0"/>
          </a:p>
        </p:txBody>
      </p:sp>
      <p:sp>
        <p:nvSpPr>
          <p:cNvPr id="24" name="SK-14-text-23"/>
          <p:cNvSpPr/>
          <p:nvPr/>
        </p:nvSpPr>
        <p:spPr>
          <a:xfrm>
            <a:off x="4242792" y="5506938"/>
            <a:ext cx="4749165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Balanced (deployed)</a:t>
            </a:r>
            <a:endParaRPr lang="en-US" sz="1350" dirty="0"/>
          </a:p>
        </p:txBody>
      </p:sp>
      <p:sp>
        <p:nvSpPr>
          <p:cNvPr id="25" name="SK-14-text-24"/>
          <p:cNvSpPr/>
          <p:nvPr/>
        </p:nvSpPr>
        <p:spPr>
          <a:xfrm>
            <a:off x="4242792" y="5740003"/>
            <a:ext cx="4131945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Final (test set)</a:t>
            </a:r>
            <a:endParaRPr lang="en-US" sz="1350" dirty="0"/>
          </a:p>
        </p:txBody>
      </p:sp>
      <p:sp>
        <p:nvSpPr>
          <p:cNvPr id="26" name="SK-14-text-25"/>
          <p:cNvSpPr/>
          <p:nvPr/>
        </p:nvSpPr>
        <p:spPr>
          <a:xfrm>
            <a:off x="4218384" y="5959525"/>
            <a:ext cx="5640705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PR curve (final model)</a:t>
            </a:r>
            <a:endParaRPr lang="en-US" sz="1350" dirty="0"/>
          </a:p>
        </p:txBody>
      </p:sp>
      <p:sp>
        <p:nvSpPr>
          <p:cNvPr id="27" name="SK-14-text-26"/>
          <p:cNvSpPr/>
          <p:nvPr/>
        </p:nvSpPr>
        <p:spPr>
          <a:xfrm>
            <a:off x="8205043" y="1392138"/>
            <a:ext cx="22098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Baseline</a:t>
            </a:r>
            <a:endParaRPr lang="en-US" sz="1200" dirty="0"/>
          </a:p>
        </p:txBody>
      </p:sp>
      <p:sp>
        <p:nvSpPr>
          <p:cNvPr id="28" name="SK-14-text-27"/>
          <p:cNvSpPr/>
          <p:nvPr/>
        </p:nvSpPr>
        <p:spPr>
          <a:xfrm>
            <a:off x="8692753" y="1686967"/>
            <a:ext cx="3499247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 70.2% recall / 55.9% precision</a:t>
            </a:r>
            <a:endParaRPr lang="en-US" sz="1050" dirty="0"/>
          </a:p>
        </p:txBody>
      </p:sp>
      <p:sp>
        <p:nvSpPr>
          <p:cNvPr id="29" name="SK-14-text-28"/>
          <p:cNvSpPr/>
          <p:nvPr/>
        </p:nvSpPr>
        <p:spPr>
          <a:xfrm>
            <a:off x="8235490" y="2355651"/>
            <a:ext cx="306324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F1-optimized</a:t>
            </a:r>
            <a:endParaRPr lang="en-US" sz="1200" dirty="0"/>
          </a:p>
        </p:txBody>
      </p:sp>
      <p:sp>
        <p:nvSpPr>
          <p:cNvPr id="30" name="SK-14-text-29"/>
          <p:cNvSpPr/>
          <p:nvPr/>
        </p:nvSpPr>
        <p:spPr>
          <a:xfrm>
            <a:off x="8692753" y="2660898"/>
            <a:ext cx="2925961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 Recall floor + best F1: both metrics improve →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70.8% / 56.8%</a:t>
            </a:r>
            <a:endParaRPr lang="en-US" sz="1050" dirty="0"/>
          </a:p>
        </p:txBody>
      </p:sp>
      <p:sp>
        <p:nvSpPr>
          <p:cNvPr id="31" name="SK-14-text-30"/>
          <p:cNvSpPr/>
          <p:nvPr/>
        </p:nvSpPr>
        <p:spPr>
          <a:xfrm>
            <a:off x="8171516" y="3449538"/>
            <a:ext cx="2941320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Recall-first</a:t>
            </a:r>
            <a:endParaRPr lang="en-US" sz="1200" dirty="0"/>
          </a:p>
        </p:txBody>
      </p:sp>
      <p:sp>
        <p:nvSpPr>
          <p:cNvPr id="32" name="SK-14-text-31"/>
          <p:cNvSpPr/>
          <p:nvPr/>
        </p:nvSpPr>
        <p:spPr>
          <a:xfrm>
            <a:off x="8692753" y="3716982"/>
            <a:ext cx="2852886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 F2-scored tuning: 76.1% recall, precision falls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49.4%</a:t>
            </a:r>
            <a:endParaRPr lang="en-US" sz="1050" dirty="0"/>
          </a:p>
        </p:txBody>
      </p:sp>
      <p:sp>
        <p:nvSpPr>
          <p:cNvPr id="33" name="SK-14-text-32"/>
          <p:cNvSpPr/>
          <p:nvPr/>
        </p:nvSpPr>
        <p:spPr>
          <a:xfrm>
            <a:off x="8171516" y="4480992"/>
            <a:ext cx="4072235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Balanced (deployed)</a:t>
            </a:r>
            <a:endParaRPr lang="en-US" sz="1200" dirty="0"/>
          </a:p>
        </p:txBody>
      </p:sp>
      <p:sp>
        <p:nvSpPr>
          <p:cNvPr id="34" name="SK-14-text-33"/>
          <p:cNvSpPr/>
          <p:nvPr/>
        </p:nvSpPr>
        <p:spPr>
          <a:xfrm>
            <a:off x="8692753" y="4766221"/>
            <a:ext cx="2633365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 PR-AUC-tuned HistGB: 66.0% / 66.0% —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closest to 70/70</a:t>
            </a:r>
            <a:endParaRPr lang="en-US" sz="1050" dirty="0"/>
          </a:p>
        </p:txBody>
      </p:sp>
      <p:sp>
        <p:nvSpPr>
          <p:cNvPr id="35" name="SK-14-text-34"/>
          <p:cNvSpPr/>
          <p:nvPr/>
        </p:nvSpPr>
        <p:spPr>
          <a:xfrm>
            <a:off x="8119765" y="5698927"/>
            <a:ext cx="367284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4B4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Final (test set)</a:t>
            </a:r>
            <a:endParaRPr lang="en-US" sz="1200" dirty="0"/>
          </a:p>
        </p:txBody>
      </p:sp>
      <p:sp>
        <p:nvSpPr>
          <p:cNvPr id="36" name="SK-14-text-35"/>
          <p:cNvSpPr/>
          <p:nvPr/>
        </p:nvSpPr>
        <p:spPr>
          <a:xfrm>
            <a:off x="402282" y="6494413"/>
            <a:ext cx="423672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E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Finlora Fraud Risk-Scoring</a:t>
            </a:r>
            <a:endParaRPr lang="en-US" sz="1050" dirty="0"/>
          </a:p>
        </p:txBody>
      </p:sp>
      <p:sp>
        <p:nvSpPr>
          <p:cNvPr id="37" name="SK-14-text-36"/>
          <p:cNvSpPr/>
          <p:nvPr/>
        </p:nvSpPr>
        <p:spPr>
          <a:xfrm>
            <a:off x="11594455" y="6508105"/>
            <a:ext cx="597545" cy="1096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E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" y="1049238"/>
            <a:ext cx="902196" cy="102840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67" y="1577280"/>
            <a:ext cx="6322219" cy="4250382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57" y="2345382"/>
            <a:ext cx="2981623" cy="3386286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2173" y="2345382"/>
            <a:ext cx="2993827" cy="3386286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694" y="1666429"/>
            <a:ext cx="4993332" cy="1356271"/>
          </a:xfrm>
          <a:prstGeom prst="rect">
            <a:avLst/>
          </a:prstGeom>
        </p:spPr>
      </p:pic>
      <p:pic>
        <p:nvPicPr>
          <p:cNvPr id="8" name="SK-1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9694" y="3163491"/>
            <a:ext cx="4993332" cy="1317873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694" y="4635996"/>
            <a:ext cx="4993332" cy="1184821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2455" y="4862215"/>
            <a:ext cx="633859" cy="630882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455" y="3449538"/>
            <a:ext cx="633859" cy="617190"/>
          </a:xfrm>
          <a:prstGeom prst="rect">
            <a:avLst/>
          </a:prstGeom>
        </p:spPr>
      </p:pic>
      <p:pic>
        <p:nvPicPr>
          <p:cNvPr id="12" name="SK-15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2455" y="1995636"/>
            <a:ext cx="633859" cy="617190"/>
          </a:xfrm>
          <a:prstGeom prst="rect">
            <a:avLst/>
          </a:prstGeom>
        </p:spPr>
      </p:pic>
      <p:pic>
        <p:nvPicPr>
          <p:cNvPr id="13" name="SK-15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4377" y="2729359"/>
            <a:ext cx="2925961" cy="2900809"/>
          </a:xfrm>
          <a:prstGeom prst="rect">
            <a:avLst/>
          </a:prstGeom>
        </p:spPr>
      </p:pic>
      <p:pic>
        <p:nvPicPr>
          <p:cNvPr id="14" name="SK-15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098" y="2715667"/>
            <a:ext cx="2950369" cy="2914650"/>
          </a:xfrm>
          <a:prstGeom prst="rect">
            <a:avLst/>
          </a:prstGeom>
        </p:spPr>
      </p:pic>
      <p:sp>
        <p:nvSpPr>
          <p:cNvPr id="15" name="SK-15-text-14"/>
          <p:cNvSpPr/>
          <p:nvPr/>
        </p:nvSpPr>
        <p:spPr>
          <a:xfrm>
            <a:off x="365671" y="205680"/>
            <a:ext cx="28194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HONEST LIMIT</a:t>
            </a:r>
            <a:endParaRPr lang="en-US" sz="1200" dirty="0"/>
          </a:p>
        </p:txBody>
      </p:sp>
      <p:sp>
        <p:nvSpPr>
          <p:cNvPr id="16" name="SK-15-text-15"/>
          <p:cNvSpPr/>
          <p:nvPr/>
        </p:nvSpPr>
        <p:spPr>
          <a:xfrm>
            <a:off x="341263" y="555427"/>
            <a:ext cx="11850737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70% precision and 70% recall together isn't reachable</a:t>
            </a:r>
            <a:endParaRPr lang="en-US" sz="2550" dirty="0"/>
          </a:p>
        </p:txBody>
      </p:sp>
      <p:sp>
        <p:nvSpPr>
          <p:cNvPr id="17" name="SK-15-text-16"/>
          <p:cNvSpPr/>
          <p:nvPr/>
        </p:nvSpPr>
        <p:spPr>
          <a:xfrm>
            <a:off x="1158180" y="1755577"/>
            <a:ext cx="976884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numeric features overlap heavily between classes</a:t>
            </a:r>
            <a:endParaRPr lang="en-US" sz="1200" dirty="0"/>
          </a:p>
        </p:txBody>
      </p:sp>
      <p:sp>
        <p:nvSpPr>
          <p:cNvPr id="18" name="SK-15-text-17"/>
          <p:cNvSpPr/>
          <p:nvPr/>
        </p:nvSpPr>
        <p:spPr>
          <a:xfrm>
            <a:off x="1377553" y="2427684"/>
            <a:ext cx="263652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account_age_days</a:t>
            </a:r>
            <a:endParaRPr lang="en-US" sz="1050" dirty="0"/>
          </a:p>
        </p:txBody>
      </p:sp>
      <p:sp>
        <p:nvSpPr>
          <p:cNvPr id="19" name="SK-15-text-18"/>
          <p:cNvSpPr/>
          <p:nvPr/>
        </p:nvSpPr>
        <p:spPr>
          <a:xfrm>
            <a:off x="4206180" y="2427684"/>
            <a:ext cx="445008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avg_transaction_amount_30d</a:t>
            </a:r>
            <a:endParaRPr lang="en-US" sz="1050" dirty="0"/>
          </a:p>
        </p:txBody>
      </p:sp>
      <p:sp>
        <p:nvSpPr>
          <p:cNvPr id="20" name="SK-15-text-19"/>
          <p:cNvSpPr/>
          <p:nvPr/>
        </p:nvSpPr>
        <p:spPr>
          <a:xfrm>
            <a:off x="7900392" y="1995636"/>
            <a:ext cx="3718471" cy="8709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 Checked empirically across 6 models — 3 baseline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candidates, a stronger algorithm, extra engineered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features, and a PR-AUC-tuned final version — none clear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70% marks at once.</a:t>
            </a:r>
            <a:endParaRPr lang="en-US" sz="1050" dirty="0"/>
          </a:p>
        </p:txBody>
      </p:sp>
      <p:sp>
        <p:nvSpPr>
          <p:cNvPr id="21" name="SK-15-text-20"/>
          <p:cNvSpPr/>
          <p:nvPr/>
        </p:nvSpPr>
        <p:spPr>
          <a:xfrm>
            <a:off x="7900392" y="3518148"/>
            <a:ext cx="3608784" cy="6582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 Why: most numeric features overlap heavily between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 and legitimate transactions — only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transaction_velocity_1h cleanly separates the classes.</a:t>
            </a:r>
            <a:endParaRPr lang="en-US" sz="1050" dirty="0"/>
          </a:p>
        </p:txBody>
      </p:sp>
      <p:sp>
        <p:nvSpPr>
          <p:cNvPr id="22" name="SK-15-text-21"/>
          <p:cNvSpPr/>
          <p:nvPr/>
        </p:nvSpPr>
        <p:spPr>
          <a:xfrm>
            <a:off x="7900392" y="4923979"/>
            <a:ext cx="3657600" cy="65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 Closing this gap further likely needs new signal (device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fingerprinting, network reputation), not more tuning on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features.</a:t>
            </a:r>
            <a:endParaRPr lang="en-US" sz="1050" dirty="0"/>
          </a:p>
        </p:txBody>
      </p:sp>
      <p:sp>
        <p:nvSpPr>
          <p:cNvPr id="23" name="SK-15-text-22"/>
          <p:cNvSpPr/>
          <p:nvPr/>
        </p:nvSpPr>
        <p:spPr>
          <a:xfrm>
            <a:off x="365671" y="6480721"/>
            <a:ext cx="423672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1050" dirty="0"/>
          </a:p>
        </p:txBody>
      </p:sp>
      <p:sp>
        <p:nvSpPr>
          <p:cNvPr id="24" name="SK-15-text-23"/>
          <p:cNvSpPr/>
          <p:nvPr/>
        </p:nvSpPr>
        <p:spPr>
          <a:xfrm>
            <a:off x="11545788" y="6494413"/>
            <a:ext cx="609600" cy="130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02840"/>
          </a:xfrm>
          <a:prstGeom prst="rect">
            <a:avLst/>
          </a:prstGeom>
        </p:spPr>
      </p:pic>
      <p:pic>
        <p:nvPicPr>
          <p:cNvPr id="4" name="SK-1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69" y="511373"/>
            <a:ext cx="926455" cy="33338"/>
          </a:xfrm>
          <a:prstGeom prst="rect">
            <a:avLst/>
          </a:prstGeom>
        </p:spPr>
      </p:pic>
      <p:pic>
        <p:nvPicPr>
          <p:cNvPr id="5" name="SK-1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079" y="1119932"/>
            <a:ext cx="5193655" cy="5489079"/>
          </a:xfrm>
          <a:prstGeom prst="rect">
            <a:avLst/>
          </a:prstGeom>
        </p:spPr>
      </p:pic>
      <p:pic>
        <p:nvPicPr>
          <p:cNvPr id="6" name="SK-1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4588" y="1119932"/>
            <a:ext cx="6047184" cy="5489079"/>
          </a:xfrm>
          <a:prstGeom prst="rect">
            <a:avLst/>
          </a:prstGeom>
        </p:spPr>
      </p:pic>
      <p:pic>
        <p:nvPicPr>
          <p:cNvPr id="7" name="SK-1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7977" y="4430167"/>
            <a:ext cx="6022777" cy="1892796"/>
          </a:xfrm>
          <a:prstGeom prst="rect">
            <a:avLst/>
          </a:prstGeom>
        </p:spPr>
      </p:pic>
      <p:pic>
        <p:nvPicPr>
          <p:cNvPr id="8" name="SK-1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7977" y="2921496"/>
            <a:ext cx="6022777" cy="1385292"/>
          </a:xfrm>
          <a:prstGeom prst="rect">
            <a:avLst/>
          </a:prstGeom>
        </p:spPr>
      </p:pic>
      <p:pic>
        <p:nvPicPr>
          <p:cNvPr id="9" name="SK-1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7977" y="1405830"/>
            <a:ext cx="6034980" cy="1412677"/>
          </a:xfrm>
          <a:prstGeom prst="rect">
            <a:avLst/>
          </a:prstGeom>
        </p:spPr>
      </p:pic>
      <p:pic>
        <p:nvPicPr>
          <p:cNvPr id="10" name="SK-1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894" y="1405830"/>
            <a:ext cx="5059561" cy="4917132"/>
          </a:xfrm>
          <a:prstGeom prst="rect">
            <a:avLst/>
          </a:prstGeom>
        </p:spPr>
      </p:pic>
      <p:sp>
        <p:nvSpPr>
          <p:cNvPr id="11" name="SK-16-text-10"/>
          <p:cNvSpPr/>
          <p:nvPr/>
        </p:nvSpPr>
        <p:spPr>
          <a:xfrm>
            <a:off x="499765" y="308521"/>
            <a:ext cx="240792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PERFORMANCE</a:t>
            </a:r>
            <a:endParaRPr lang="en-US" sz="900" dirty="0"/>
          </a:p>
        </p:txBody>
      </p:sp>
      <p:sp>
        <p:nvSpPr>
          <p:cNvPr id="12" name="SK-16-text-11"/>
          <p:cNvSpPr/>
          <p:nvPr/>
        </p:nvSpPr>
        <p:spPr>
          <a:xfrm>
            <a:off x="463153" y="630882"/>
            <a:ext cx="11728847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test set's one-time, unbiased check</a:t>
            </a:r>
            <a:endParaRPr lang="en-US" sz="2400" dirty="0"/>
          </a:p>
        </p:txBody>
      </p:sp>
      <p:sp>
        <p:nvSpPr>
          <p:cNvPr id="13" name="SK-16-text-12"/>
          <p:cNvSpPr/>
          <p:nvPr/>
        </p:nvSpPr>
        <p:spPr>
          <a:xfrm>
            <a:off x="414486" y="6480721"/>
            <a:ext cx="393954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14" name="SK-16-text-13"/>
          <p:cNvSpPr/>
          <p:nvPr/>
        </p:nvSpPr>
        <p:spPr>
          <a:xfrm>
            <a:off x="11582400" y="6501259"/>
            <a:ext cx="571500" cy="1165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73" y="1975098"/>
            <a:ext cx="19050" cy="2263080"/>
          </a:xfrm>
          <a:prstGeom prst="rect">
            <a:avLst/>
          </a:prstGeom>
        </p:spPr>
      </p:pic>
      <p:pic>
        <p:nvPicPr>
          <p:cNvPr id="4" name="SK-1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690" y="0"/>
            <a:ext cx="4145161" cy="6858000"/>
          </a:xfrm>
          <a:prstGeom prst="rect">
            <a:avLst/>
          </a:prstGeom>
        </p:spPr>
      </p:pic>
      <p:sp>
        <p:nvSpPr>
          <p:cNvPr id="5" name="SK-17-text-4"/>
          <p:cNvSpPr/>
          <p:nvPr/>
        </p:nvSpPr>
        <p:spPr>
          <a:xfrm>
            <a:off x="877788" y="2352229"/>
            <a:ext cx="1628775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8C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50" dirty="0"/>
          </a:p>
        </p:txBody>
      </p:sp>
      <p:sp>
        <p:nvSpPr>
          <p:cNvPr id="6" name="SK-17-text-5"/>
          <p:cNvSpPr/>
          <p:nvPr/>
        </p:nvSpPr>
        <p:spPr>
          <a:xfrm>
            <a:off x="877788" y="3106638"/>
            <a:ext cx="11314212" cy="6445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 &amp; Trust</a:t>
            </a:r>
            <a:endParaRPr lang="en-US" sz="4275" dirty="0"/>
          </a:p>
        </p:txBody>
      </p:sp>
      <p:sp>
        <p:nvSpPr>
          <p:cNvPr id="7" name="SK-17-text-6"/>
          <p:cNvSpPr/>
          <p:nvPr/>
        </p:nvSpPr>
        <p:spPr>
          <a:xfrm>
            <a:off x="865584" y="4025503"/>
            <a:ext cx="11326416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model relies on, transaction by transaction</a:t>
            </a:r>
            <a:endParaRPr lang="en-US" sz="17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3379"/>
          </a:xfrm>
          <a:prstGeom prst="rect">
            <a:avLst/>
          </a:prstGeom>
        </p:spPr>
      </p:pic>
      <p:pic>
        <p:nvPicPr>
          <p:cNvPr id="4" name="SK-1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84" y="1165771"/>
            <a:ext cx="1084957" cy="61615"/>
          </a:xfrm>
          <a:prstGeom prst="rect">
            <a:avLst/>
          </a:prstGeom>
        </p:spPr>
      </p:pic>
      <p:pic>
        <p:nvPicPr>
          <p:cNvPr id="5" name="SK-1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" y="1350913"/>
            <a:ext cx="11308705" cy="4030861"/>
          </a:xfrm>
          <a:prstGeom prst="rect">
            <a:avLst/>
          </a:prstGeom>
        </p:spPr>
      </p:pic>
      <p:pic>
        <p:nvPicPr>
          <p:cNvPr id="6" name="SK-1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414" y="1700659"/>
            <a:ext cx="9525" cy="3305473"/>
          </a:xfrm>
          <a:prstGeom prst="rect">
            <a:avLst/>
          </a:prstGeom>
        </p:spPr>
      </p:pic>
      <p:pic>
        <p:nvPicPr>
          <p:cNvPr id="7" name="SK-1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53" y="5541169"/>
            <a:ext cx="11296650" cy="780157"/>
          </a:xfrm>
          <a:prstGeom prst="rect">
            <a:avLst/>
          </a:prstGeom>
        </p:spPr>
      </p:pic>
      <p:pic>
        <p:nvPicPr>
          <p:cNvPr id="8" name="SK-1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153" y="5541169"/>
            <a:ext cx="60871" cy="781794"/>
          </a:xfrm>
          <a:prstGeom prst="rect">
            <a:avLst/>
          </a:prstGeom>
        </p:spPr>
      </p:pic>
      <p:pic>
        <p:nvPicPr>
          <p:cNvPr id="9" name="SK-1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286" y="5740003"/>
            <a:ext cx="390079" cy="377130"/>
          </a:xfrm>
          <a:prstGeom prst="rect">
            <a:avLst/>
          </a:prstGeom>
        </p:spPr>
      </p:pic>
      <p:pic>
        <p:nvPicPr>
          <p:cNvPr id="10" name="SK-1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580" y="1803648"/>
            <a:ext cx="6047184" cy="3353544"/>
          </a:xfrm>
          <a:prstGeom prst="rect">
            <a:avLst/>
          </a:prstGeom>
        </p:spPr>
      </p:pic>
      <p:sp>
        <p:nvSpPr>
          <p:cNvPr id="11" name="SK-18-text-10"/>
          <p:cNvSpPr/>
          <p:nvPr/>
        </p:nvSpPr>
        <p:spPr>
          <a:xfrm>
            <a:off x="511969" y="301675"/>
            <a:ext cx="377952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20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EXPLAINABILITY (SHAP)</a:t>
            </a:r>
            <a:endParaRPr lang="en-US" sz="900" dirty="0"/>
          </a:p>
        </p:txBody>
      </p:sp>
      <p:sp>
        <p:nvSpPr>
          <p:cNvPr id="12" name="SK-18-text-11"/>
          <p:cNvSpPr/>
          <p:nvPr/>
        </p:nvSpPr>
        <p:spPr>
          <a:xfrm>
            <a:off x="487561" y="603498"/>
            <a:ext cx="11704439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0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model actually relies on</a:t>
            </a:r>
            <a:endParaRPr lang="en-US" sz="2400" dirty="0"/>
          </a:p>
        </p:txBody>
      </p:sp>
      <p:sp>
        <p:nvSpPr>
          <p:cNvPr id="13" name="SK-18-text-12"/>
          <p:cNvSpPr/>
          <p:nvPr/>
        </p:nvSpPr>
        <p:spPr>
          <a:xfrm>
            <a:off x="2170063" y="1556742"/>
            <a:ext cx="611124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model actually relies on</a:t>
            </a:r>
            <a:endParaRPr lang="en-US" sz="1200" dirty="0"/>
          </a:p>
        </p:txBody>
      </p:sp>
      <p:sp>
        <p:nvSpPr>
          <p:cNvPr id="14" name="SK-18-text-13"/>
          <p:cNvSpPr/>
          <p:nvPr/>
        </p:nvSpPr>
        <p:spPr>
          <a:xfrm>
            <a:off x="7229773" y="1954411"/>
            <a:ext cx="4108698" cy="7405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amount_to_avg_ratio dominates — 4x higher than</a:t>
            </a:r>
            <a:endParaRPr lang="en-US" sz="1350" dirty="0"/>
          </a:p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transaction_velocity_1h, reversing the raw-correlation</a:t>
            </a:r>
            <a:endParaRPr lang="en-US" sz="1350" dirty="0"/>
          </a:p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ranking from the EDA.</a:t>
            </a:r>
            <a:endParaRPr lang="en-US" sz="1350" dirty="0"/>
          </a:p>
        </p:txBody>
      </p:sp>
      <p:sp>
        <p:nvSpPr>
          <p:cNvPr id="15" name="SK-18-text-14"/>
          <p:cNvSpPr/>
          <p:nvPr/>
        </p:nvSpPr>
        <p:spPr>
          <a:xfrm>
            <a:off x="7229773" y="2935188"/>
            <a:ext cx="4206180" cy="75426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Why: velocity is near-binary (one split captures it); the</a:t>
            </a:r>
            <a:endParaRPr lang="en-US" sz="1350" dirty="0"/>
          </a:p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continuous, long-tailed ratio accumulates influence</a:t>
            </a:r>
            <a:endParaRPr lang="en-US" sz="1350" dirty="0"/>
          </a:p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many tree splits.</a:t>
            </a:r>
            <a:endParaRPr lang="en-US" sz="1350" dirty="0"/>
          </a:p>
        </p:txBody>
      </p:sp>
      <p:sp>
        <p:nvSpPr>
          <p:cNvPr id="16" name="SK-18-text-15"/>
          <p:cNvSpPr/>
          <p:nvPr/>
        </p:nvSpPr>
        <p:spPr>
          <a:xfrm>
            <a:off x="1255663" y="5692080"/>
            <a:ext cx="1584960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CAF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 LINE</a:t>
            </a:r>
            <a:endParaRPr lang="en-US" sz="900" dirty="0"/>
          </a:p>
        </p:txBody>
      </p:sp>
      <p:sp>
        <p:nvSpPr>
          <p:cNvPr id="17" name="SK-18-text-16"/>
          <p:cNvSpPr/>
          <p:nvPr/>
        </p:nvSpPr>
        <p:spPr>
          <a:xfrm>
            <a:off x="1219200" y="5932140"/>
            <a:ext cx="1097280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missed fraud transaction had a normal-looking amount_to_avg_ratio — explaining exactly why the model's top feature failed to flag it.</a:t>
            </a:r>
            <a:endParaRPr lang="en-US" sz="1350" dirty="0"/>
          </a:p>
        </p:txBody>
      </p:sp>
      <p:sp>
        <p:nvSpPr>
          <p:cNvPr id="18" name="SK-18-text-17"/>
          <p:cNvSpPr/>
          <p:nvPr/>
        </p:nvSpPr>
        <p:spPr>
          <a:xfrm>
            <a:off x="426690" y="6480721"/>
            <a:ext cx="3642360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Finlora Fraud Risk-Scoring</a:t>
            </a:r>
            <a:endParaRPr lang="en-US" sz="900" dirty="0"/>
          </a:p>
        </p:txBody>
      </p:sp>
      <p:sp>
        <p:nvSpPr>
          <p:cNvPr id="19" name="SK-18-text-18"/>
          <p:cNvSpPr/>
          <p:nvPr/>
        </p:nvSpPr>
        <p:spPr>
          <a:xfrm>
            <a:off x="11594455" y="6494413"/>
            <a:ext cx="533400" cy="1165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K-19-text-2"/>
          <p:cNvSpPr/>
          <p:nvPr/>
        </p:nvSpPr>
        <p:spPr>
          <a:xfrm>
            <a:off x="780157" y="713184"/>
            <a:ext cx="1285875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6D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50" dirty="0"/>
          </a:p>
        </p:txBody>
      </p:sp>
      <p:sp>
        <p:nvSpPr>
          <p:cNvPr id="4" name="SK-19-text-3"/>
          <p:cNvSpPr/>
          <p:nvPr/>
        </p:nvSpPr>
        <p:spPr>
          <a:xfrm>
            <a:off x="780157" y="2942034"/>
            <a:ext cx="6667500" cy="5965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4200" dirty="0"/>
          </a:p>
        </p:txBody>
      </p:sp>
      <p:sp>
        <p:nvSpPr>
          <p:cNvPr id="5" name="SK-19-text-4"/>
          <p:cNvSpPr/>
          <p:nvPr/>
        </p:nvSpPr>
        <p:spPr>
          <a:xfrm>
            <a:off x="767953" y="3991273"/>
            <a:ext cx="11424047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live scoring app, a dashboard, and ongoing monitoring</a:t>
            </a:r>
            <a:endParaRPr lang="en-US" sz="14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3379"/>
          </a:xfrm>
          <a:prstGeom prst="rect">
            <a:avLst/>
          </a:prstGeom>
        </p:spPr>
      </p:pic>
      <p:pic>
        <p:nvPicPr>
          <p:cNvPr id="4" name="SK-2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1522363"/>
            <a:ext cx="767953" cy="47923"/>
          </a:xfrm>
          <a:prstGeom prst="rect">
            <a:avLst/>
          </a:prstGeom>
        </p:spPr>
      </p:pic>
      <p:pic>
        <p:nvPicPr>
          <p:cNvPr id="5" name="SK-2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1927027"/>
            <a:ext cx="3450282" cy="3149798"/>
          </a:xfrm>
          <a:prstGeom prst="rect">
            <a:avLst/>
          </a:prstGeom>
        </p:spPr>
      </p:pic>
      <p:pic>
        <p:nvPicPr>
          <p:cNvPr id="6" name="SK-2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80" y="1927027"/>
            <a:ext cx="3450282" cy="102840"/>
          </a:xfrm>
          <a:prstGeom prst="rect">
            <a:avLst/>
          </a:prstGeom>
        </p:spPr>
      </p:pic>
      <p:pic>
        <p:nvPicPr>
          <p:cNvPr id="7" name="SK-2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80" y="2139553"/>
            <a:ext cx="3450282" cy="726877"/>
          </a:xfrm>
          <a:prstGeom prst="rect">
            <a:avLst/>
          </a:prstGeom>
        </p:spPr>
      </p:pic>
      <p:pic>
        <p:nvPicPr>
          <p:cNvPr id="8" name="SK-2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2479" y="1927027"/>
            <a:ext cx="3450282" cy="3559225"/>
          </a:xfrm>
          <a:prstGeom prst="rect">
            <a:avLst/>
          </a:prstGeom>
        </p:spPr>
      </p:pic>
      <p:pic>
        <p:nvPicPr>
          <p:cNvPr id="9" name="SK-2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2479" y="1927027"/>
            <a:ext cx="3450282" cy="102840"/>
          </a:xfrm>
          <a:prstGeom prst="rect">
            <a:avLst/>
          </a:prstGeom>
        </p:spPr>
      </p:pic>
      <p:pic>
        <p:nvPicPr>
          <p:cNvPr id="10" name="SK-20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2479" y="2125861"/>
            <a:ext cx="3450282" cy="740569"/>
          </a:xfrm>
          <a:prstGeom prst="rect">
            <a:avLst/>
          </a:prstGeom>
        </p:spPr>
      </p:pic>
      <p:pic>
        <p:nvPicPr>
          <p:cNvPr id="11" name="SK-20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6377" y="1927027"/>
            <a:ext cx="3450282" cy="3559225"/>
          </a:xfrm>
          <a:prstGeom prst="rect">
            <a:avLst/>
          </a:prstGeom>
        </p:spPr>
      </p:pic>
      <p:pic>
        <p:nvPicPr>
          <p:cNvPr id="12" name="SK-20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6377" y="1927027"/>
            <a:ext cx="3450282" cy="102840"/>
          </a:xfrm>
          <a:prstGeom prst="rect">
            <a:avLst/>
          </a:prstGeom>
        </p:spPr>
      </p:pic>
      <p:pic>
        <p:nvPicPr>
          <p:cNvPr id="13" name="SK-20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6377" y="2146548"/>
            <a:ext cx="3450282" cy="720030"/>
          </a:xfrm>
          <a:prstGeom prst="rect">
            <a:avLst/>
          </a:prstGeom>
        </p:spPr>
      </p:pic>
      <p:pic>
        <p:nvPicPr>
          <p:cNvPr id="14" name="SK-20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580" y="5500092"/>
            <a:ext cx="11119098" cy="733723"/>
          </a:xfrm>
          <a:prstGeom prst="rect">
            <a:avLst/>
          </a:prstGeom>
        </p:spPr>
      </p:pic>
      <p:pic>
        <p:nvPicPr>
          <p:cNvPr id="15" name="SK-20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580" y="5500092"/>
            <a:ext cx="48667" cy="740569"/>
          </a:xfrm>
          <a:prstGeom prst="rect">
            <a:avLst/>
          </a:prstGeom>
        </p:spPr>
      </p:pic>
      <p:sp>
        <p:nvSpPr>
          <p:cNvPr id="16" name="SK-20-text-15"/>
          <p:cNvSpPr/>
          <p:nvPr/>
        </p:nvSpPr>
        <p:spPr>
          <a:xfrm>
            <a:off x="524173" y="438894"/>
            <a:ext cx="2796540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STREAMLIT APP</a:t>
            </a:r>
            <a:endParaRPr lang="en-US" sz="1050" dirty="0"/>
          </a:p>
        </p:txBody>
      </p:sp>
      <p:sp>
        <p:nvSpPr>
          <p:cNvPr id="17" name="SK-20-text-16"/>
          <p:cNvSpPr/>
          <p:nvPr/>
        </p:nvSpPr>
        <p:spPr>
          <a:xfrm>
            <a:off x="536377" y="870942"/>
            <a:ext cx="10505123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75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pages, one model</a:t>
            </a:r>
            <a:endParaRPr lang="en-US" sz="3075" dirty="0"/>
          </a:p>
        </p:txBody>
      </p:sp>
      <p:sp>
        <p:nvSpPr>
          <p:cNvPr id="18" name="SK-20-text-17"/>
          <p:cNvSpPr/>
          <p:nvPr/>
        </p:nvSpPr>
        <p:spPr>
          <a:xfrm>
            <a:off x="804565" y="2393305"/>
            <a:ext cx="1161097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725" dirty="0"/>
          </a:p>
        </p:txBody>
      </p:sp>
      <p:sp>
        <p:nvSpPr>
          <p:cNvPr id="19" name="SK-20-text-18"/>
          <p:cNvSpPr/>
          <p:nvPr/>
        </p:nvSpPr>
        <p:spPr>
          <a:xfrm>
            <a:off x="780157" y="3140869"/>
            <a:ext cx="2840682" cy="5073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one transaction or a batch CSV;</a:t>
            </a:r>
            <a:endParaRPr lang="en-US" sz="1275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prediction is logged.</a:t>
            </a:r>
            <a:endParaRPr lang="en-US" sz="1275" dirty="0"/>
          </a:p>
        </p:txBody>
      </p:sp>
      <p:sp>
        <p:nvSpPr>
          <p:cNvPr id="20" name="SK-20-text-19"/>
          <p:cNvSpPr/>
          <p:nvPr/>
        </p:nvSpPr>
        <p:spPr>
          <a:xfrm>
            <a:off x="4596259" y="2379613"/>
            <a:ext cx="247554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725" dirty="0"/>
          </a:p>
        </p:txBody>
      </p:sp>
      <p:sp>
        <p:nvSpPr>
          <p:cNvPr id="21" name="SK-20-text-20"/>
          <p:cNvSpPr/>
          <p:nvPr/>
        </p:nvSpPr>
        <p:spPr>
          <a:xfrm>
            <a:off x="4572000" y="3140869"/>
            <a:ext cx="2828479" cy="10766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optimization journey, SHAP</a:t>
            </a:r>
            <a:endParaRPr lang="en-US" sz="1275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drivers, confusion matrix, and the</a:t>
            </a:r>
            <a:endParaRPr lang="en-US" sz="1275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70/70 story — built for a stakeholder</a:t>
            </a:r>
            <a:endParaRPr lang="en-US" sz="1275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audience.</a:t>
            </a:r>
            <a:endParaRPr lang="en-US" sz="1275" dirty="0"/>
          </a:p>
        </p:txBody>
      </p:sp>
      <p:sp>
        <p:nvSpPr>
          <p:cNvPr id="22" name="SK-20-text-21"/>
          <p:cNvSpPr/>
          <p:nvPr/>
        </p:nvSpPr>
        <p:spPr>
          <a:xfrm>
            <a:off x="8412361" y="2379613"/>
            <a:ext cx="3527108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725" dirty="0"/>
          </a:p>
        </p:txBody>
      </p:sp>
      <p:sp>
        <p:nvSpPr>
          <p:cNvPr id="23" name="SK-20-text-22"/>
          <p:cNvSpPr/>
          <p:nvPr/>
        </p:nvSpPr>
        <p:spPr>
          <a:xfrm>
            <a:off x="8400157" y="3140869"/>
            <a:ext cx="2913757" cy="7954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ROC/PR curves, live-traffic monitoring,</a:t>
            </a:r>
            <a:endParaRPr lang="en-US" sz="1275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PSI-based drift detection against</a:t>
            </a:r>
            <a:endParaRPr lang="en-US" sz="1275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training baseline.</a:t>
            </a:r>
            <a:endParaRPr lang="en-US" sz="1275" dirty="0"/>
          </a:p>
        </p:txBody>
      </p:sp>
      <p:sp>
        <p:nvSpPr>
          <p:cNvPr id="24" name="SK-20-text-23"/>
          <p:cNvSpPr/>
          <p:nvPr/>
        </p:nvSpPr>
        <p:spPr>
          <a:xfrm>
            <a:off x="780157" y="5760690"/>
            <a:ext cx="11411843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app: https://finlora-risk-scoring-ngozi.streamlit.app/</a:t>
            </a:r>
            <a:endParaRPr lang="en-US" sz="1350" dirty="0"/>
          </a:p>
        </p:txBody>
      </p:sp>
      <p:sp>
        <p:nvSpPr>
          <p:cNvPr id="25" name="SK-20-text-24"/>
          <p:cNvSpPr/>
          <p:nvPr/>
        </p:nvSpPr>
        <p:spPr>
          <a:xfrm>
            <a:off x="438894" y="6480721"/>
            <a:ext cx="3939540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Finlora Fraud Risk-Scoring</a:t>
            </a:r>
            <a:endParaRPr lang="en-US" sz="975" dirty="0"/>
          </a:p>
        </p:txBody>
      </p:sp>
      <p:sp>
        <p:nvSpPr>
          <p:cNvPr id="26" name="SK-20-text-25"/>
          <p:cNvSpPr/>
          <p:nvPr/>
        </p:nvSpPr>
        <p:spPr>
          <a:xfrm>
            <a:off x="11521380" y="6494413"/>
            <a:ext cx="571500" cy="1096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73" y="1025426"/>
            <a:ext cx="414486" cy="47625"/>
          </a:xfrm>
          <a:prstGeom prst="rect">
            <a:avLst/>
          </a:prstGeom>
        </p:spPr>
      </p:pic>
      <p:pic>
        <p:nvPicPr>
          <p:cNvPr id="4" name="SK-2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60" y="2880271"/>
            <a:ext cx="47625" cy="1248073"/>
          </a:xfrm>
          <a:prstGeom prst="rect">
            <a:avLst/>
          </a:prstGeom>
        </p:spPr>
      </p:pic>
      <p:pic>
        <p:nvPicPr>
          <p:cNvPr id="5" name="SK-2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1522363"/>
            <a:ext cx="4572000" cy="5335488"/>
          </a:xfrm>
          <a:prstGeom prst="rect">
            <a:avLst/>
          </a:prstGeom>
        </p:spPr>
      </p:pic>
      <p:sp>
        <p:nvSpPr>
          <p:cNvPr id="6" name="SK-21-text-5"/>
          <p:cNvSpPr/>
          <p:nvPr/>
        </p:nvSpPr>
        <p:spPr>
          <a:xfrm>
            <a:off x="780157" y="678805"/>
            <a:ext cx="1285875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F054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50" dirty="0"/>
          </a:p>
        </p:txBody>
      </p:sp>
      <p:sp>
        <p:nvSpPr>
          <p:cNvPr id="7" name="SK-21-text-6"/>
          <p:cNvSpPr/>
          <p:nvPr/>
        </p:nvSpPr>
        <p:spPr>
          <a:xfrm>
            <a:off x="1109365" y="3099792"/>
            <a:ext cx="11082635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&amp; Next Steps</a:t>
            </a:r>
            <a:endParaRPr lang="en-US" sz="3150" dirty="0"/>
          </a:p>
        </p:txBody>
      </p:sp>
      <p:sp>
        <p:nvSpPr>
          <p:cNvPr id="8" name="SK-21-text-7"/>
          <p:cNvSpPr/>
          <p:nvPr/>
        </p:nvSpPr>
        <p:spPr>
          <a:xfrm>
            <a:off x="1097161" y="3751213"/>
            <a:ext cx="11094839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this stands, and what would move it forward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80" y="1124099"/>
            <a:ext cx="853380" cy="28575"/>
          </a:xfrm>
          <a:prstGeom prst="rect">
            <a:avLst/>
          </a:prstGeom>
        </p:spPr>
      </p:pic>
      <p:pic>
        <p:nvPicPr>
          <p:cNvPr id="4" name="SK-2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1552575"/>
            <a:ext cx="11094690" cy="1323529"/>
          </a:xfrm>
          <a:prstGeom prst="rect">
            <a:avLst/>
          </a:prstGeom>
        </p:spPr>
      </p:pic>
      <p:pic>
        <p:nvPicPr>
          <p:cNvPr id="5" name="SK-2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1536055"/>
            <a:ext cx="1840855" cy="1330375"/>
          </a:xfrm>
          <a:prstGeom prst="rect">
            <a:avLst/>
          </a:prstGeom>
        </p:spPr>
      </p:pic>
      <p:pic>
        <p:nvPicPr>
          <p:cNvPr id="6" name="SK-2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602" y="1700659"/>
            <a:ext cx="9525" cy="1028700"/>
          </a:xfrm>
          <a:prstGeom prst="rect">
            <a:avLst/>
          </a:prstGeom>
        </p:spPr>
      </p:pic>
      <p:pic>
        <p:nvPicPr>
          <p:cNvPr id="7" name="SK-2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80" y="3208734"/>
            <a:ext cx="11094690" cy="1304330"/>
          </a:xfrm>
          <a:prstGeom prst="rect">
            <a:avLst/>
          </a:prstGeom>
        </p:spPr>
      </p:pic>
      <p:pic>
        <p:nvPicPr>
          <p:cNvPr id="8" name="SK-2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580" y="3209479"/>
            <a:ext cx="1840855" cy="1289298"/>
          </a:xfrm>
          <a:prstGeom prst="rect">
            <a:avLst/>
          </a:prstGeom>
        </p:spPr>
      </p:pic>
      <p:pic>
        <p:nvPicPr>
          <p:cNvPr id="9" name="SK-2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602" y="3305473"/>
            <a:ext cx="9525" cy="1028700"/>
          </a:xfrm>
          <a:prstGeom prst="rect">
            <a:avLst/>
          </a:prstGeom>
        </p:spPr>
      </p:pic>
      <p:pic>
        <p:nvPicPr>
          <p:cNvPr id="10" name="SK-2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580" y="4759375"/>
            <a:ext cx="11094690" cy="1344067"/>
          </a:xfrm>
          <a:prstGeom prst="rect">
            <a:avLst/>
          </a:prstGeom>
        </p:spPr>
      </p:pic>
      <p:pic>
        <p:nvPicPr>
          <p:cNvPr id="11" name="SK-2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580" y="4766221"/>
            <a:ext cx="1840855" cy="1337221"/>
          </a:xfrm>
          <a:prstGeom prst="rect">
            <a:avLst/>
          </a:prstGeom>
        </p:spPr>
      </p:pic>
      <p:pic>
        <p:nvPicPr>
          <p:cNvPr id="12" name="SK-22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602" y="4910286"/>
            <a:ext cx="9525" cy="1028700"/>
          </a:xfrm>
          <a:prstGeom prst="rect">
            <a:avLst/>
          </a:prstGeom>
        </p:spPr>
      </p:pic>
      <p:pic>
        <p:nvPicPr>
          <p:cNvPr id="13" name="SK-2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4957" y="5006280"/>
            <a:ext cx="804565" cy="582811"/>
          </a:xfrm>
          <a:prstGeom prst="rect">
            <a:avLst/>
          </a:prstGeom>
        </p:spPr>
      </p:pic>
      <p:pic>
        <p:nvPicPr>
          <p:cNvPr id="14" name="SK-22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4957" y="3442692"/>
            <a:ext cx="767953" cy="479971"/>
          </a:xfrm>
          <a:prstGeom prst="rect">
            <a:avLst/>
          </a:prstGeom>
        </p:spPr>
      </p:pic>
      <p:pic>
        <p:nvPicPr>
          <p:cNvPr id="15" name="SK-22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4792" y="1762423"/>
            <a:ext cx="548580" cy="562273"/>
          </a:xfrm>
          <a:prstGeom prst="rect">
            <a:avLst/>
          </a:prstGeom>
        </p:spPr>
      </p:pic>
      <p:sp>
        <p:nvSpPr>
          <p:cNvPr id="16" name="SK-22-text-15"/>
          <p:cNvSpPr/>
          <p:nvPr/>
        </p:nvSpPr>
        <p:spPr>
          <a:xfrm>
            <a:off x="511969" y="260598"/>
            <a:ext cx="231648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4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7" name="SK-22-text-16"/>
          <p:cNvSpPr/>
          <p:nvPr/>
        </p:nvSpPr>
        <p:spPr>
          <a:xfrm>
            <a:off x="499765" y="555427"/>
            <a:ext cx="11692235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C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the balanced model; tier by risk, not by a single cutoff</a:t>
            </a:r>
            <a:endParaRPr lang="en-US" sz="2700" dirty="0"/>
          </a:p>
        </p:txBody>
      </p:sp>
      <p:sp>
        <p:nvSpPr>
          <p:cNvPr id="18" name="SK-22-text-17"/>
          <p:cNvSpPr/>
          <p:nvPr/>
        </p:nvSpPr>
        <p:spPr>
          <a:xfrm>
            <a:off x="1060698" y="2434530"/>
            <a:ext cx="146685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</a:t>
            </a:r>
            <a:endParaRPr lang="en-US" sz="1500" dirty="0"/>
          </a:p>
        </p:txBody>
      </p:sp>
      <p:sp>
        <p:nvSpPr>
          <p:cNvPr id="19" name="SK-22-text-18"/>
          <p:cNvSpPr/>
          <p:nvPr/>
        </p:nvSpPr>
        <p:spPr>
          <a:xfrm>
            <a:off x="2767459" y="1810494"/>
            <a:ext cx="7290792" cy="8572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Serve the precision/recall-balanced HistGradientBoostingClassifier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threshold 0.915 — the closest achievable point to equal precision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recall on this data.</a:t>
            </a:r>
            <a:endParaRPr lang="en-US" sz="1725" dirty="0"/>
          </a:p>
        </p:txBody>
      </p:sp>
      <p:sp>
        <p:nvSpPr>
          <p:cNvPr id="20" name="SK-22-text-19"/>
          <p:cNvSpPr/>
          <p:nvPr/>
        </p:nvSpPr>
        <p:spPr>
          <a:xfrm>
            <a:off x="841177" y="4053036"/>
            <a:ext cx="283845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BY RISK</a:t>
            </a:r>
            <a:endParaRPr lang="en-US" sz="1500" dirty="0"/>
          </a:p>
        </p:txBody>
      </p:sp>
      <p:sp>
        <p:nvSpPr>
          <p:cNvPr id="21" name="SK-22-text-20"/>
          <p:cNvSpPr/>
          <p:nvPr/>
        </p:nvSpPr>
        <p:spPr>
          <a:xfrm>
            <a:off x="2779663" y="3284934"/>
            <a:ext cx="7485757" cy="11520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Use the score as a risk tier, not a block/allow switch: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→ auto-approve, Medium → step-up authentication, High →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review — this spends manual-review capacity where it matters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rather than on a single hard cutoff.</a:t>
            </a:r>
            <a:endParaRPr lang="en-US" sz="1725" dirty="0"/>
          </a:p>
        </p:txBody>
      </p:sp>
      <p:sp>
        <p:nvSpPr>
          <p:cNvPr id="22" name="SK-22-text-21"/>
          <p:cNvSpPr/>
          <p:nvPr/>
        </p:nvSpPr>
        <p:spPr>
          <a:xfrm>
            <a:off x="975271" y="5657850"/>
            <a:ext cx="169545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4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</a:t>
            </a:r>
            <a:endParaRPr lang="en-US" sz="1500" dirty="0"/>
          </a:p>
        </p:txBody>
      </p:sp>
      <p:sp>
        <p:nvSpPr>
          <p:cNvPr id="23" name="SK-22-text-22"/>
          <p:cNvSpPr/>
          <p:nvPr/>
        </p:nvSpPr>
        <p:spPr>
          <a:xfrm>
            <a:off x="2779663" y="4999434"/>
            <a:ext cx="7766298" cy="8502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 Watch the Observability page's drift metrics on a regular cadence; retrain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PSI crosses 0.25 on a key feature or when enough new labeled</a:t>
            </a:r>
            <a:endParaRPr lang="en-US" sz="1725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accumulates.</a:t>
            </a:r>
            <a:endParaRPr lang="en-US" sz="1725" dirty="0"/>
          </a:p>
        </p:txBody>
      </p:sp>
      <p:sp>
        <p:nvSpPr>
          <p:cNvPr id="24" name="SK-22-text-23"/>
          <p:cNvSpPr/>
          <p:nvPr/>
        </p:nvSpPr>
        <p:spPr>
          <a:xfrm>
            <a:off x="511969" y="6446490"/>
            <a:ext cx="423672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Finlora Fraud Risk-Scoring</a:t>
            </a:r>
            <a:endParaRPr lang="en-US" sz="1050" dirty="0"/>
          </a:p>
        </p:txBody>
      </p:sp>
      <p:sp>
        <p:nvSpPr>
          <p:cNvPr id="25" name="SK-22-text-24"/>
          <p:cNvSpPr/>
          <p:nvPr/>
        </p:nvSpPr>
        <p:spPr>
          <a:xfrm>
            <a:off x="11423898" y="6460182"/>
            <a:ext cx="609600" cy="1233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" y="1330375"/>
            <a:ext cx="1036290" cy="68461"/>
          </a:xfrm>
          <a:prstGeom prst="rect">
            <a:avLst/>
          </a:prstGeom>
        </p:spPr>
      </p:pic>
      <p:pic>
        <p:nvPicPr>
          <p:cNvPr id="4" name="SK-2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75" y="1735038"/>
            <a:ext cx="5541913" cy="4394448"/>
          </a:xfrm>
          <a:prstGeom prst="rect">
            <a:avLst/>
          </a:prstGeom>
        </p:spPr>
      </p:pic>
      <p:pic>
        <p:nvPicPr>
          <p:cNvPr id="5" name="SK-2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75" y="1735038"/>
            <a:ext cx="5522863" cy="747415"/>
          </a:xfrm>
          <a:prstGeom prst="rect">
            <a:avLst/>
          </a:prstGeom>
        </p:spPr>
      </p:pic>
      <p:pic>
        <p:nvPicPr>
          <p:cNvPr id="6" name="SK-2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75" y="2475309"/>
            <a:ext cx="5522863" cy="14288"/>
          </a:xfrm>
          <a:prstGeom prst="rect">
            <a:avLst/>
          </a:prstGeom>
        </p:spPr>
      </p:pic>
      <p:pic>
        <p:nvPicPr>
          <p:cNvPr id="7" name="SK-2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2463" y="1735038"/>
            <a:ext cx="5688211" cy="4161234"/>
          </a:xfrm>
          <a:prstGeom prst="rect">
            <a:avLst/>
          </a:prstGeom>
        </p:spPr>
      </p:pic>
      <p:pic>
        <p:nvPicPr>
          <p:cNvPr id="8" name="SK-2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2463" y="1762423"/>
            <a:ext cx="5669161" cy="720030"/>
          </a:xfrm>
          <a:prstGeom prst="rect">
            <a:avLst/>
          </a:prstGeom>
        </p:spPr>
      </p:pic>
      <p:pic>
        <p:nvPicPr>
          <p:cNvPr id="9" name="SK-2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2463" y="2475309"/>
            <a:ext cx="5669161" cy="14288"/>
          </a:xfrm>
          <a:prstGeom prst="rect">
            <a:avLst/>
          </a:prstGeom>
        </p:spPr>
      </p:pic>
      <p:sp>
        <p:nvSpPr>
          <p:cNvPr id="10" name="SK-23-text-9"/>
          <p:cNvSpPr/>
          <p:nvPr/>
        </p:nvSpPr>
        <p:spPr>
          <a:xfrm>
            <a:off x="365671" y="287982"/>
            <a:ext cx="4744402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 &amp; NEXT STEPS</a:t>
            </a:r>
            <a:endParaRPr lang="en-US" sz="1275" dirty="0"/>
          </a:p>
        </p:txBody>
      </p:sp>
      <p:sp>
        <p:nvSpPr>
          <p:cNvPr id="11" name="SK-23-text-10"/>
          <p:cNvSpPr/>
          <p:nvPr/>
        </p:nvSpPr>
        <p:spPr>
          <a:xfrm>
            <a:off x="353467" y="713184"/>
            <a:ext cx="11838533" cy="4662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75" b="1" dirty="0">
                <a:solidFill>
                  <a:srgbClr val="002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would move the ceiling</a:t>
            </a:r>
            <a:endParaRPr lang="en-US" sz="3375" dirty="0"/>
          </a:p>
        </p:txBody>
      </p:sp>
      <p:sp>
        <p:nvSpPr>
          <p:cNvPr id="12" name="SK-23-text-11"/>
          <p:cNvSpPr/>
          <p:nvPr/>
        </p:nvSpPr>
        <p:spPr>
          <a:xfrm>
            <a:off x="548580" y="1988790"/>
            <a:ext cx="477774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39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Known limitations</a:t>
            </a:r>
            <a:endParaRPr lang="en-US" sz="1800" dirty="0"/>
          </a:p>
        </p:txBody>
      </p:sp>
      <p:sp>
        <p:nvSpPr>
          <p:cNvPr id="13" name="SK-23-text-12"/>
          <p:cNvSpPr/>
          <p:nvPr/>
        </p:nvSpPr>
        <p:spPr>
          <a:xfrm>
            <a:off x="572988" y="2852886"/>
            <a:ext cx="4864596" cy="9120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Row-level train/test split, not account-level —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 reflect within-account generalization, not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entirely unseen accounts</a:t>
            </a:r>
            <a:endParaRPr lang="en-US" sz="1650" dirty="0"/>
          </a:p>
        </p:txBody>
      </p:sp>
      <p:sp>
        <p:nvSpPr>
          <p:cNvPr id="14" name="SK-23-text-13"/>
          <p:cNvSpPr/>
          <p:nvPr/>
        </p:nvSpPr>
        <p:spPr>
          <a:xfrm>
            <a:off x="572988" y="4128492"/>
            <a:ext cx="4498777" cy="5965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70% precision and 70% recall together is not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reachable with today's features</a:t>
            </a:r>
            <a:endParaRPr lang="en-US" sz="1650" dirty="0"/>
          </a:p>
        </p:txBody>
      </p:sp>
      <p:sp>
        <p:nvSpPr>
          <p:cNvPr id="15" name="SK-23-text-14"/>
          <p:cNvSpPr/>
          <p:nvPr/>
        </p:nvSpPr>
        <p:spPr>
          <a:xfrm>
            <a:off x="6303169" y="1988790"/>
            <a:ext cx="5888831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next steps</a:t>
            </a:r>
            <a:endParaRPr lang="en-US" sz="1800" dirty="0"/>
          </a:p>
        </p:txBody>
      </p:sp>
      <p:sp>
        <p:nvSpPr>
          <p:cNvPr id="16" name="SK-23-text-15"/>
          <p:cNvSpPr/>
          <p:nvPr/>
        </p:nvSpPr>
        <p:spPr>
          <a:xfrm>
            <a:off x="6315373" y="2852886"/>
            <a:ext cx="5230267" cy="9257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New data signals — device fingerprinting, IP/network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reputation — are the most promising lever to break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precision/recall ceiling</a:t>
            </a:r>
            <a:endParaRPr lang="en-US" sz="1650" dirty="0"/>
          </a:p>
        </p:txBody>
      </p:sp>
      <p:sp>
        <p:nvSpPr>
          <p:cNvPr id="17" name="SK-23-text-16"/>
          <p:cNvSpPr/>
          <p:nvPr/>
        </p:nvSpPr>
        <p:spPr>
          <a:xfrm>
            <a:off x="6315373" y="4100959"/>
            <a:ext cx="5157192" cy="5896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An account-held-out evaluation (GroupShuffleSplit)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 production go/no-go</a:t>
            </a:r>
            <a:endParaRPr lang="en-US" sz="1650" dirty="0"/>
          </a:p>
        </p:txBody>
      </p:sp>
      <p:sp>
        <p:nvSpPr>
          <p:cNvPr id="18" name="SK-23-text-17"/>
          <p:cNvSpPr/>
          <p:nvPr/>
        </p:nvSpPr>
        <p:spPr>
          <a:xfrm>
            <a:off x="6315373" y="5040511"/>
            <a:ext cx="4669482" cy="5828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A scheduled retrain cadence, triggered by the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drift monitoring already built</a:t>
            </a:r>
            <a:endParaRPr lang="en-US" sz="1650" dirty="0"/>
          </a:p>
        </p:txBody>
      </p:sp>
      <p:sp>
        <p:nvSpPr>
          <p:cNvPr id="19" name="SK-23-text-18"/>
          <p:cNvSpPr/>
          <p:nvPr/>
        </p:nvSpPr>
        <p:spPr>
          <a:xfrm>
            <a:off x="365671" y="6473875"/>
            <a:ext cx="453390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9E9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Finlora Fraud Risk-Scoring</a:t>
            </a:r>
            <a:endParaRPr lang="en-US" sz="1125" dirty="0"/>
          </a:p>
        </p:txBody>
      </p:sp>
      <p:sp>
        <p:nvSpPr>
          <p:cNvPr id="20" name="SK-23-text-19"/>
          <p:cNvSpPr/>
          <p:nvPr/>
        </p:nvSpPr>
        <p:spPr>
          <a:xfrm>
            <a:off x="11570196" y="6494413"/>
            <a:ext cx="621804" cy="1233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9E9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3379"/>
          </a:xfrm>
          <a:prstGeom prst="rect">
            <a:avLst/>
          </a:prstGeom>
        </p:spPr>
      </p:pic>
      <p:pic>
        <p:nvPicPr>
          <p:cNvPr id="4" name="SK-2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34473"/>
            <a:ext cx="12192000" cy="123379"/>
          </a:xfrm>
          <a:prstGeom prst="rect">
            <a:avLst/>
          </a:prstGeom>
        </p:spPr>
      </p:pic>
      <p:pic>
        <p:nvPicPr>
          <p:cNvPr id="5" name="SK-2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73" y="3448943"/>
            <a:ext cx="1267867" cy="28575"/>
          </a:xfrm>
          <a:prstGeom prst="rect">
            <a:avLst/>
          </a:prstGeom>
        </p:spPr>
      </p:pic>
      <p:pic>
        <p:nvPicPr>
          <p:cNvPr id="6" name="SK-2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490" y="2365921"/>
            <a:ext cx="6888361" cy="4368403"/>
          </a:xfrm>
          <a:prstGeom prst="rect">
            <a:avLst/>
          </a:prstGeom>
        </p:spPr>
      </p:pic>
      <p:sp>
        <p:nvSpPr>
          <p:cNvPr id="7" name="SK-24-text-6"/>
          <p:cNvSpPr/>
          <p:nvPr/>
        </p:nvSpPr>
        <p:spPr>
          <a:xfrm>
            <a:off x="828973" y="2571750"/>
            <a:ext cx="6673215" cy="7200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650" dirty="0"/>
          </a:p>
        </p:txBody>
      </p:sp>
      <p:sp>
        <p:nvSpPr>
          <p:cNvPr id="8" name="SK-24-text-7"/>
          <p:cNvSpPr/>
          <p:nvPr/>
        </p:nvSpPr>
        <p:spPr>
          <a:xfrm>
            <a:off x="816769" y="3758059"/>
            <a:ext cx="6918007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2025" dirty="0"/>
          </a:p>
        </p:txBody>
      </p:sp>
      <p:sp>
        <p:nvSpPr>
          <p:cNvPr id="9" name="SK-24-text-8"/>
          <p:cNvSpPr/>
          <p:nvPr/>
        </p:nvSpPr>
        <p:spPr>
          <a:xfrm>
            <a:off x="804565" y="4491930"/>
            <a:ext cx="11387435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the live app: https://finlora-risk-scoring-ngozi.streamlit.app/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1792</Words>
  <Application>Microsoft Office PowerPoint</Application>
  <PresentationFormat>Widescreen</PresentationFormat>
  <Paragraphs>290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Montserrat</vt:lpstr>
      <vt:lpstr>Roboto</vt:lpstr>
      <vt:lpstr>Inter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Ngozi Anwuri</cp:lastModifiedBy>
  <cp:revision>2</cp:revision>
  <dcterms:created xsi:type="dcterms:W3CDTF">2026-09-23T16:03:51Z</dcterms:created>
  <dcterms:modified xsi:type="dcterms:W3CDTF">2026-09-23T16:06:20Z</dcterms:modified>
</cp:coreProperties>
</file>